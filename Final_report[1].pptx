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62" r:id="rId3"/>
    <p:sldId id="257" r:id="rId4"/>
    <p:sldId id="258" r:id="rId5"/>
    <p:sldId id="269" r:id="rId6"/>
    <p:sldId id="264" r:id="rId7"/>
    <p:sldId id="263" r:id="rId8"/>
    <p:sldId id="260" r:id="rId9"/>
    <p:sldId id="265" r:id="rId10"/>
    <p:sldId id="268"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9" d="100"/>
          <a:sy n="89"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A43429-7B6C-8154-6369-CD089DC9D6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6183B83-B36E-ADBE-A193-D8C73BF0F8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890998-C0E8-4D1E-8C0E-24B31E57F317}" type="datetimeFigureOut">
              <a:rPr lang="en-IN" smtClean="0"/>
              <a:t>12-11-2025</a:t>
            </a:fld>
            <a:endParaRPr lang="en-IN"/>
          </a:p>
        </p:txBody>
      </p:sp>
      <p:sp>
        <p:nvSpPr>
          <p:cNvPr id="4" name="Footer Placeholder 3">
            <a:extLst>
              <a:ext uri="{FF2B5EF4-FFF2-40B4-BE49-F238E27FC236}">
                <a16:creationId xmlns:a16="http://schemas.microsoft.com/office/drawing/2014/main" id="{2288C9A5-88F6-8A76-D7AE-26445AF464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238FA95-C81F-B94B-ACCF-5BE6B17847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8D36F2-2688-496C-8C6B-9A64E875E837}" type="slidenum">
              <a:rPr lang="en-IN" smtClean="0"/>
              <a:t>‹#›</a:t>
            </a:fld>
            <a:endParaRPr lang="en-IN"/>
          </a:p>
        </p:txBody>
      </p:sp>
    </p:spTree>
    <p:extLst>
      <p:ext uri="{BB962C8B-B14F-4D97-AF65-F5344CB8AC3E}">
        <p14:creationId xmlns:p14="http://schemas.microsoft.com/office/powerpoint/2010/main" val="20627835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8D721-37D9-44BA-9BF8-06F793AB2C74}" type="datetimeFigureOut">
              <a:rPr lang="en-IN" smtClean="0"/>
              <a:t>12-11-2025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4E3A38-D6BD-4992-A2DB-C10C258A1D1F}" type="slidenum">
              <a:rPr lang="en-IN" smtClean="0"/>
              <a:t>‹#›</a:t>
            </a:fld>
            <a:endParaRPr lang="en-IN"/>
          </a:p>
        </p:txBody>
      </p:sp>
    </p:spTree>
    <p:extLst>
      <p:ext uri="{BB962C8B-B14F-4D97-AF65-F5344CB8AC3E}">
        <p14:creationId xmlns:p14="http://schemas.microsoft.com/office/powerpoint/2010/main" val="255790130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5A1702A-BF12-4DAE-8314-59EBBA493BF3}" type="datetime1">
              <a:rPr lang="en-US" smtClean="0"/>
              <a:t>11/12/2025</a:t>
            </a:fld>
            <a:endParaRPr lang="en-US"/>
          </a:p>
        </p:txBody>
      </p:sp>
      <p:sp>
        <p:nvSpPr>
          <p:cNvPr id="5" name="Footer Placeholder 4"/>
          <p:cNvSpPr>
            <a:spLocks noGrp="1"/>
          </p:cNvSpPr>
          <p:nvPr>
            <p:ph type="ftr" sz="quarter" idx="11"/>
          </p:nvPr>
        </p:nvSpPr>
        <p:spPr/>
        <p:txBody>
          <a:bodyPr/>
          <a:lstStyle/>
          <a:p>
            <a:r>
              <a:rPr lang="en-US"/>
              <a:t>Dept. of AI &amp; DS, GAT</a:t>
            </a:r>
          </a:p>
        </p:txBody>
      </p:sp>
      <p:sp>
        <p:nvSpPr>
          <p:cNvPr id="6" name="Slide Number Placeholder 5"/>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132317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2F463C-1130-37B6-17E1-1D9887CA3653}"/>
              </a:ext>
            </a:extLst>
          </p:cNvPr>
          <p:cNvSpPr>
            <a:spLocks noGrp="1"/>
          </p:cNvSpPr>
          <p:nvPr>
            <p:ph type="dt" sz="half" idx="10"/>
          </p:nvPr>
        </p:nvSpPr>
        <p:spPr/>
        <p:txBody>
          <a:bodyPr/>
          <a:lstStyle/>
          <a:p>
            <a:fld id="{7E7610D0-C3B5-46D2-9436-643DFA75719E}" type="datetime1">
              <a:rPr lang="en-US" smtClean="0"/>
              <a:t>11/12/2025</a:t>
            </a:fld>
            <a:endParaRPr lang="en-US"/>
          </a:p>
        </p:txBody>
      </p:sp>
      <p:sp>
        <p:nvSpPr>
          <p:cNvPr id="8" name="Footer Placeholder 7">
            <a:extLst>
              <a:ext uri="{FF2B5EF4-FFF2-40B4-BE49-F238E27FC236}">
                <a16:creationId xmlns:a16="http://schemas.microsoft.com/office/drawing/2014/main" id="{8B7E7EA0-1ACA-BABD-637C-99FB2DD1B929}"/>
              </a:ext>
            </a:extLst>
          </p:cNvPr>
          <p:cNvSpPr>
            <a:spLocks noGrp="1"/>
          </p:cNvSpPr>
          <p:nvPr>
            <p:ph type="ftr" sz="quarter" idx="11"/>
          </p:nvPr>
        </p:nvSpPr>
        <p:spPr/>
        <p:txBody>
          <a:bodyPr/>
          <a:lstStyle/>
          <a:p>
            <a:r>
              <a:rPr lang="en-US"/>
              <a:t>Dept. of AI &amp; DS, GAT</a:t>
            </a:r>
          </a:p>
        </p:txBody>
      </p:sp>
      <p:sp>
        <p:nvSpPr>
          <p:cNvPr id="9" name="Slide Number Placeholder 8">
            <a:extLst>
              <a:ext uri="{FF2B5EF4-FFF2-40B4-BE49-F238E27FC236}">
                <a16:creationId xmlns:a16="http://schemas.microsoft.com/office/drawing/2014/main" id="{75019E83-41E8-DABE-3482-421AB4D0F9E1}"/>
              </a:ext>
            </a:extLst>
          </p:cNvPr>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1761627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4D5F25-03F0-46CF-81BA-03874F6EB7CA}" type="datetime1">
              <a:rPr lang="en-US" smtClean="0"/>
              <a:t>11/12/2025</a:t>
            </a:fld>
            <a:endParaRPr lang="en-US"/>
          </a:p>
        </p:txBody>
      </p:sp>
      <p:sp>
        <p:nvSpPr>
          <p:cNvPr id="5" name="Footer Placeholder 4"/>
          <p:cNvSpPr>
            <a:spLocks noGrp="1"/>
          </p:cNvSpPr>
          <p:nvPr>
            <p:ph type="ftr" sz="quarter" idx="11"/>
          </p:nvPr>
        </p:nvSpPr>
        <p:spPr/>
        <p:txBody>
          <a:bodyPr/>
          <a:lstStyle/>
          <a:p>
            <a:r>
              <a:rPr lang="en-US"/>
              <a:t>Dept. of AI &amp; DS, GAT</a:t>
            </a:r>
          </a:p>
        </p:txBody>
      </p:sp>
      <p:sp>
        <p:nvSpPr>
          <p:cNvPr id="6" name="Slide Number Placeholder 5"/>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309550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A96D81F-1235-4760-8FB5-84ADEA5B3803}" type="datetime1">
              <a:rPr lang="en-US" smtClean="0"/>
              <a:t>11/12/2025</a:t>
            </a:fld>
            <a:endParaRPr lang="en-US"/>
          </a:p>
        </p:txBody>
      </p:sp>
      <p:sp>
        <p:nvSpPr>
          <p:cNvPr id="6" name="Footer Placeholder 5"/>
          <p:cNvSpPr>
            <a:spLocks noGrp="1"/>
          </p:cNvSpPr>
          <p:nvPr>
            <p:ph type="ftr" sz="quarter" idx="11"/>
          </p:nvPr>
        </p:nvSpPr>
        <p:spPr/>
        <p:txBody>
          <a:bodyPr/>
          <a:lstStyle/>
          <a:p>
            <a:r>
              <a:rPr lang="en-US"/>
              <a:t>Dept. of AI &amp; DS, GAT</a:t>
            </a:r>
          </a:p>
        </p:txBody>
      </p:sp>
      <p:sp>
        <p:nvSpPr>
          <p:cNvPr id="7" name="Slide Number Placeholder 6"/>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1945397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44CF42-D9CF-4E19-81C5-3BDFC433DD40}" type="datetime1">
              <a:rPr lang="en-US" smtClean="0"/>
              <a:t>11/12/2025</a:t>
            </a:fld>
            <a:endParaRPr lang="en-US"/>
          </a:p>
        </p:txBody>
      </p:sp>
      <p:sp>
        <p:nvSpPr>
          <p:cNvPr id="8" name="Footer Placeholder 7"/>
          <p:cNvSpPr>
            <a:spLocks noGrp="1"/>
          </p:cNvSpPr>
          <p:nvPr>
            <p:ph type="ftr" sz="quarter" idx="11"/>
          </p:nvPr>
        </p:nvSpPr>
        <p:spPr/>
        <p:txBody>
          <a:bodyPr/>
          <a:lstStyle/>
          <a:p>
            <a:r>
              <a:rPr lang="en-US"/>
              <a:t>Dept. of AI &amp; DS, GAT</a:t>
            </a:r>
          </a:p>
        </p:txBody>
      </p:sp>
      <p:sp>
        <p:nvSpPr>
          <p:cNvPr id="9" name="Slide Number Placeholder 8"/>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2186176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23B048-F357-4502-86BF-425BC504AF6A}" type="datetime1">
              <a:rPr lang="en-US" smtClean="0"/>
              <a:t>11/12/2025</a:t>
            </a:fld>
            <a:endParaRPr lang="en-US"/>
          </a:p>
        </p:txBody>
      </p:sp>
      <p:sp>
        <p:nvSpPr>
          <p:cNvPr id="4" name="Footer Placeholder 3"/>
          <p:cNvSpPr>
            <a:spLocks noGrp="1"/>
          </p:cNvSpPr>
          <p:nvPr>
            <p:ph type="ftr" sz="quarter" idx="11"/>
          </p:nvPr>
        </p:nvSpPr>
        <p:spPr/>
        <p:txBody>
          <a:bodyPr/>
          <a:lstStyle/>
          <a:p>
            <a:r>
              <a:rPr lang="en-US"/>
              <a:t>Dept. of AI &amp; DS, GAT</a:t>
            </a:r>
          </a:p>
        </p:txBody>
      </p:sp>
      <p:sp>
        <p:nvSpPr>
          <p:cNvPr id="5" name="Slide Number Placeholder 4"/>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2735358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30C2F2-B571-452E-890A-21C7D0571A1C}" type="datetime1">
              <a:rPr lang="en-US" smtClean="0"/>
              <a:t>11/12/2025</a:t>
            </a:fld>
            <a:endParaRPr lang="en-US"/>
          </a:p>
        </p:txBody>
      </p:sp>
      <p:sp>
        <p:nvSpPr>
          <p:cNvPr id="3" name="Footer Placeholder 2"/>
          <p:cNvSpPr>
            <a:spLocks noGrp="1"/>
          </p:cNvSpPr>
          <p:nvPr>
            <p:ph type="ftr" sz="quarter" idx="11"/>
          </p:nvPr>
        </p:nvSpPr>
        <p:spPr/>
        <p:txBody>
          <a:bodyPr/>
          <a:lstStyle/>
          <a:p>
            <a:r>
              <a:rPr lang="en-US"/>
              <a:t>Dept. of AI &amp; DS, GAT</a:t>
            </a:r>
          </a:p>
        </p:txBody>
      </p:sp>
      <p:sp>
        <p:nvSpPr>
          <p:cNvPr id="4" name="Slide Number Placeholder 3"/>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3239212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7D28844-DE62-41C7-A52B-A2EEB2EEFB46}" type="datetime1">
              <a:rPr lang="en-US" smtClean="0"/>
              <a:t>11/12/2025</a:t>
            </a:fld>
            <a:endParaRPr lang="en-US"/>
          </a:p>
        </p:txBody>
      </p:sp>
      <p:sp>
        <p:nvSpPr>
          <p:cNvPr id="6" name="Footer Placeholder 5"/>
          <p:cNvSpPr>
            <a:spLocks noGrp="1"/>
          </p:cNvSpPr>
          <p:nvPr>
            <p:ph type="ftr" sz="quarter" idx="11"/>
          </p:nvPr>
        </p:nvSpPr>
        <p:spPr/>
        <p:txBody>
          <a:bodyPr/>
          <a:lstStyle/>
          <a:p>
            <a:r>
              <a:rPr lang="en-US"/>
              <a:t>Dept. of AI &amp; DS, GAT</a:t>
            </a:r>
          </a:p>
        </p:txBody>
      </p:sp>
      <p:sp>
        <p:nvSpPr>
          <p:cNvPr id="7" name="Slide Number Placeholder 6"/>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7130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68B098-A3F6-42AF-97AD-5D10B26F7496}" type="datetime1">
              <a:rPr lang="en-US" smtClean="0"/>
              <a:t>11/12/2025</a:t>
            </a:fld>
            <a:endParaRPr lang="en-US"/>
          </a:p>
        </p:txBody>
      </p:sp>
      <p:sp>
        <p:nvSpPr>
          <p:cNvPr id="6" name="Footer Placeholder 5"/>
          <p:cNvSpPr>
            <a:spLocks noGrp="1"/>
          </p:cNvSpPr>
          <p:nvPr>
            <p:ph type="ftr" sz="quarter" idx="11"/>
          </p:nvPr>
        </p:nvSpPr>
        <p:spPr/>
        <p:txBody>
          <a:bodyPr/>
          <a:lstStyle/>
          <a:p>
            <a:r>
              <a:rPr lang="en-US"/>
              <a:t>Dept. of AI &amp; DS, GAT</a:t>
            </a:r>
          </a:p>
        </p:txBody>
      </p:sp>
      <p:sp>
        <p:nvSpPr>
          <p:cNvPr id="7" name="Slide Number Placeholder 6"/>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1512627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7007F9-E4D7-49D2-86F9-D7B8F00651F8}" type="datetime1">
              <a:rPr lang="en-US" smtClean="0"/>
              <a:t>11/12/2025</a:t>
            </a:fld>
            <a:endParaRPr lang="en-US"/>
          </a:p>
        </p:txBody>
      </p:sp>
      <p:sp>
        <p:nvSpPr>
          <p:cNvPr id="5" name="Footer Placeholder 4"/>
          <p:cNvSpPr>
            <a:spLocks noGrp="1"/>
          </p:cNvSpPr>
          <p:nvPr>
            <p:ph type="ftr" sz="quarter" idx="11"/>
          </p:nvPr>
        </p:nvSpPr>
        <p:spPr/>
        <p:txBody>
          <a:bodyPr/>
          <a:lstStyle/>
          <a:p>
            <a:r>
              <a:rPr lang="en-US"/>
              <a:t>Dept. of AI &amp; DS, GAT</a:t>
            </a:r>
          </a:p>
        </p:txBody>
      </p:sp>
      <p:sp>
        <p:nvSpPr>
          <p:cNvPr id="6" name="Slide Number Placeholder 5"/>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282553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398CE3-B39C-4A6C-8295-5135AEBAD212}" type="datetime1">
              <a:rPr lang="en-US" smtClean="0"/>
              <a:t>11/12/2025</a:t>
            </a:fld>
            <a:endParaRPr lang="en-US"/>
          </a:p>
        </p:txBody>
      </p:sp>
      <p:sp>
        <p:nvSpPr>
          <p:cNvPr id="5" name="Footer Placeholder 4"/>
          <p:cNvSpPr>
            <a:spLocks noGrp="1"/>
          </p:cNvSpPr>
          <p:nvPr>
            <p:ph type="ftr" sz="quarter" idx="11"/>
          </p:nvPr>
        </p:nvSpPr>
        <p:spPr/>
        <p:txBody>
          <a:bodyPr/>
          <a:lstStyle/>
          <a:p>
            <a:r>
              <a:rPr lang="en-US"/>
              <a:t>Dept. of AI &amp; DS, GAT</a:t>
            </a:r>
          </a:p>
        </p:txBody>
      </p:sp>
      <p:sp>
        <p:nvSpPr>
          <p:cNvPr id="6" name="Slide Number Placeholder 5"/>
          <p:cNvSpPr>
            <a:spLocks noGrp="1"/>
          </p:cNvSpPr>
          <p:nvPr>
            <p:ph type="sldNum" sz="quarter" idx="12"/>
          </p:nvPr>
        </p:nvSpPr>
        <p:spPr/>
        <p:txBody>
          <a:bodyPr/>
          <a:lstStyle/>
          <a:p>
            <a:fld id="{6C62AD7F-F6AD-4FB1-B598-A02559CCFE19}" type="slidenum">
              <a:rPr lang="en-US" smtClean="0"/>
              <a:t>‹#›</a:t>
            </a:fld>
            <a:endParaRPr lang="en-US"/>
          </a:p>
        </p:txBody>
      </p:sp>
    </p:spTree>
    <p:extLst>
      <p:ext uri="{BB962C8B-B14F-4D97-AF65-F5344CB8AC3E}">
        <p14:creationId xmlns:p14="http://schemas.microsoft.com/office/powerpoint/2010/main" val="3824588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BC7106-F30F-4707-9382-A1A763850A68}" type="datetime1">
              <a:rPr lang="en-US" smtClean="0"/>
              <a:t>11/12/2025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AI &amp; DS, GAT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62AD7F-F6AD-4FB1-B598-A02559CCFE19}" type="slidenum">
              <a:rPr lang="en-US" smtClean="0"/>
              <a:t>‹#›</a:t>
            </a:fld>
            <a:endParaRPr lang="en-US"/>
          </a:p>
        </p:txBody>
      </p:sp>
    </p:spTree>
    <p:extLst>
      <p:ext uri="{BB962C8B-B14F-4D97-AF65-F5344CB8AC3E}">
        <p14:creationId xmlns:p14="http://schemas.microsoft.com/office/powerpoint/2010/main" val="798899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pPr algn="ctr"/>
            <a:r>
              <a:rPr lang="en-US" dirty="0"/>
              <a:t>             </a:t>
            </a:r>
            <a:br>
              <a:rPr lang="en-US" dirty="0"/>
            </a:br>
            <a:br>
              <a:rPr lang="en-US" dirty="0"/>
            </a:br>
            <a:br>
              <a:rPr lang="en-US" dirty="0"/>
            </a:br>
            <a:r>
              <a:rPr lang="en-US" sz="2400" b="1" dirty="0">
                <a:latin typeface="Times New Roman" panose="02020603050405020304" pitchFamily="18" charset="0"/>
                <a:cs typeface="Times New Roman" panose="02020603050405020304" pitchFamily="18" charset="0"/>
              </a:rPr>
              <a:t>GLOBAL ACADEMY OF TECHNOLOGY</a:t>
            </a:r>
            <a:br>
              <a:rPr lang="en-US" sz="22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Affiliated to VTU, Recognized by GOK, Approved by AICTE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Aditya Layout, Ideal Homes Bengaluru - 560 098</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www.gat.ac.in</a:t>
            </a:r>
            <a:br>
              <a:rPr lang="en-US" sz="16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DEPARTMENT OF ARTIFICIAL INTELLIGENCE AND DATA SCIENCE</a:t>
            </a:r>
            <a:br>
              <a:rPr lang="en-US" dirty="0"/>
            </a:br>
            <a:br>
              <a:rPr lang="en-US" dirty="0"/>
            </a:br>
            <a:br>
              <a:rPr lang="en-US" b="1" dirty="0"/>
            </a:br>
            <a:r>
              <a:rPr lang="en-US" b="1" dirty="0"/>
              <a:t>   </a:t>
            </a:r>
            <a:endParaRPr lang="en-US" dirty="0"/>
          </a:p>
        </p:txBody>
      </p:sp>
      <p:sp>
        <p:nvSpPr>
          <p:cNvPr id="5" name="Content Placeholder 4"/>
          <p:cNvSpPr>
            <a:spLocks noGrp="1"/>
          </p:cNvSpPr>
          <p:nvPr>
            <p:ph type="subTitle" idx="1"/>
          </p:nvPr>
        </p:nvSpPr>
        <p:spPr>
          <a:xfrm>
            <a:off x="2219478" y="1511560"/>
            <a:ext cx="7409713" cy="914399"/>
          </a:xfrm>
        </p:spPr>
        <p:txBody>
          <a:bodyPr>
            <a:normAutofit fontScale="25000" lnSpcReduction="20000"/>
          </a:bodyPr>
          <a:lstStyle/>
          <a:p>
            <a:pPr marL="0" indent="0">
              <a:buNone/>
            </a:pPr>
            <a:endParaRPr lang="en-US" sz="2200" b="1" dirty="0">
              <a:latin typeface="Times New Roman" panose="02020603050405020304" pitchFamily="18" charset="0"/>
              <a:cs typeface="Times New Roman" panose="02020603050405020304" pitchFamily="18" charset="0"/>
            </a:endParaRPr>
          </a:p>
          <a:p>
            <a:pPr marL="0" indent="0" algn="ctr">
              <a:buNone/>
            </a:pPr>
            <a:r>
              <a:rPr lang="en-US" sz="8000" b="1" dirty="0">
                <a:latin typeface="Times New Roman" panose="02020603050405020304" pitchFamily="18" charset="0"/>
                <a:cs typeface="Times New Roman" panose="02020603050405020304" pitchFamily="18" charset="0"/>
              </a:rPr>
              <a:t>MINI PROJECT FINAL REVIEW</a:t>
            </a:r>
          </a:p>
          <a:p>
            <a:pPr marL="0" indent="0" algn="ctr">
              <a:buNone/>
            </a:pPr>
            <a:r>
              <a:rPr lang="en-US" sz="8000" b="1" dirty="0">
                <a:latin typeface="Times New Roman" panose="02020603050405020304" pitchFamily="18" charset="0"/>
                <a:cs typeface="Times New Roman" panose="02020603050405020304" pitchFamily="18" charset="0"/>
              </a:rPr>
              <a:t>              ADSP23506</a:t>
            </a:r>
            <a:r>
              <a:rPr lang="en-US" sz="3600" dirty="0">
                <a:latin typeface="Times New Roman" panose="02020603050405020304" pitchFamily="18" charset="0"/>
                <a:cs typeface="Times New Roman" panose="02020603050405020304" pitchFamily="18" charset="0"/>
              </a:rPr>
              <a:t>		</a:t>
            </a:r>
          </a:p>
          <a:p>
            <a:pPr marL="0" indent="0" algn="ctr">
              <a:buNone/>
            </a:pPr>
            <a:r>
              <a:rPr lang="en-US" sz="2200" b="1" dirty="0">
                <a:latin typeface="Times New Roman" panose="02020603050405020304" pitchFamily="18" charset="0"/>
                <a:cs typeface="Times New Roman" panose="02020603050405020304" pitchFamily="18" charset="0"/>
              </a:rPr>
              <a:t>		</a:t>
            </a:r>
          </a:p>
        </p:txBody>
      </p:sp>
      <p:pic>
        <p:nvPicPr>
          <p:cNvPr id="12" name="Picture 11"/>
          <p:cNvPicPr/>
          <p:nvPr/>
        </p:nvPicPr>
        <p:blipFill>
          <a:blip r:embed="rId2" cstate="print">
            <a:extLst>
              <a:ext uri="{28A0092B-C50C-407E-A947-70E740481C1C}">
                <a14:useLocalDpi xmlns:a14="http://schemas.microsoft.com/office/drawing/2010/main" val="0"/>
              </a:ext>
            </a:extLst>
          </a:blip>
          <a:stretch>
            <a:fillRect/>
          </a:stretch>
        </p:blipFill>
        <p:spPr>
          <a:xfrm>
            <a:off x="10367010" y="365125"/>
            <a:ext cx="1217763" cy="1337945"/>
          </a:xfrm>
          <a:prstGeom prst="rect">
            <a:avLst/>
          </a:prstGeom>
        </p:spPr>
      </p:pic>
      <p:pic>
        <p:nvPicPr>
          <p:cNvPr id="6" name="Picture 5">
            <a:extLst>
              <a:ext uri="{FF2B5EF4-FFF2-40B4-BE49-F238E27FC236}">
                <a16:creationId xmlns:a16="http://schemas.microsoft.com/office/drawing/2014/main" id="{078DDC6B-2AA4-1DF7-1B9C-FE16FAD23AD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483" y="365126"/>
            <a:ext cx="2045996" cy="1460498"/>
          </a:xfrm>
          <a:prstGeom prst="rect">
            <a:avLst/>
          </a:prstGeom>
          <a:noFill/>
          <a:ln>
            <a:noFill/>
          </a:ln>
        </p:spPr>
      </p:pic>
      <p:sp>
        <p:nvSpPr>
          <p:cNvPr id="15" name="TextBox 14">
            <a:extLst>
              <a:ext uri="{FF2B5EF4-FFF2-40B4-BE49-F238E27FC236}">
                <a16:creationId xmlns:a16="http://schemas.microsoft.com/office/drawing/2014/main" id="{8F307654-E209-9636-934E-62DB277BFC9F}"/>
              </a:ext>
            </a:extLst>
          </p:cNvPr>
          <p:cNvSpPr txBox="1"/>
          <p:nvPr/>
        </p:nvSpPr>
        <p:spPr>
          <a:xfrm>
            <a:off x="1175657" y="2985797"/>
            <a:ext cx="9492343" cy="369332"/>
          </a:xfrm>
          <a:prstGeom prst="rect">
            <a:avLst/>
          </a:prstGeom>
          <a:noFill/>
        </p:spPr>
        <p:txBody>
          <a:bodyPr wrap="square" rtlCol="0">
            <a:spAutoFit/>
          </a:bodyPr>
          <a:lstStyle/>
          <a:p>
            <a:pPr algn="ctr"/>
            <a:r>
              <a:rPr lang="en-IN" dirty="0"/>
              <a:t>    </a:t>
            </a:r>
            <a:r>
              <a:rPr lang="en-US" dirty="0">
                <a:latin typeface="Times New Roman" panose="02020603050405020304" pitchFamily="18" charset="0"/>
                <a:cs typeface="Times New Roman" panose="02020603050405020304" pitchFamily="18" charset="0"/>
              </a:rPr>
              <a:t>The Dynamics of India’s GDP: Measuring Progress and Potential</a:t>
            </a:r>
            <a:endParaRPr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23D598B-48F2-FB94-092E-98038FE68707}"/>
              </a:ext>
            </a:extLst>
          </p:cNvPr>
          <p:cNvSpPr txBox="1"/>
          <p:nvPr/>
        </p:nvSpPr>
        <p:spPr>
          <a:xfrm>
            <a:off x="3813030" y="3805237"/>
            <a:ext cx="395618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Under the guidance of : Prof. </a:t>
            </a:r>
            <a:r>
              <a:rPr lang="en-IN" dirty="0" err="1">
                <a:latin typeface="Times New Roman" panose="02020603050405020304" pitchFamily="18" charset="0"/>
                <a:cs typeface="Times New Roman" panose="02020603050405020304" pitchFamily="18" charset="0"/>
              </a:rPr>
              <a:t>Gargi.N</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879552-F2B9-2000-3370-F569EAB6AD75}"/>
              </a:ext>
            </a:extLst>
          </p:cNvPr>
          <p:cNvSpPr txBox="1"/>
          <p:nvPr/>
        </p:nvSpPr>
        <p:spPr>
          <a:xfrm>
            <a:off x="3069915" y="4956953"/>
            <a:ext cx="4297043" cy="523220"/>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Presented By :Ravi C,USN:1GA23AD042</a:t>
            </a:r>
          </a:p>
          <a:p>
            <a:pPr algn="r"/>
            <a:r>
              <a:rPr lang="en-IN" sz="1400" dirty="0" err="1">
                <a:latin typeface="Times New Roman" panose="02020603050405020304" pitchFamily="18" charset="0"/>
                <a:cs typeface="Times New Roman" panose="02020603050405020304" pitchFamily="18" charset="0"/>
              </a:rPr>
              <a:t>Vishwaradhya</a:t>
            </a:r>
            <a:r>
              <a:rPr lang="en-IN" sz="1400" dirty="0">
                <a:latin typeface="Times New Roman" panose="02020603050405020304" pitchFamily="18" charset="0"/>
                <a:cs typeface="Times New Roman" panose="02020603050405020304" pitchFamily="18" charset="0"/>
              </a:rPr>
              <a:t> H,USN:1GA23AD060                         </a:t>
            </a:r>
          </a:p>
        </p:txBody>
      </p:sp>
    </p:spTree>
    <p:extLst>
      <p:ext uri="{BB962C8B-B14F-4D97-AF65-F5344CB8AC3E}">
        <p14:creationId xmlns:p14="http://schemas.microsoft.com/office/powerpoint/2010/main" val="52278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DB9B8-85B9-A1C1-30C9-B1EAF1CA0494}"/>
              </a:ext>
            </a:extLst>
          </p:cNvPr>
          <p:cNvSpPr>
            <a:spLocks noGrp="1"/>
          </p:cNvSpPr>
          <p:nvPr>
            <p:ph type="title"/>
          </p:nvPr>
        </p:nvSpPr>
        <p:spPr/>
        <p:txBody>
          <a:bodyPr>
            <a:normAutofit/>
          </a:bodyPr>
          <a:lstStyle/>
          <a:p>
            <a:pPr algn="ctr"/>
            <a:r>
              <a:rPr lang="en-IN" sz="28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8388DC5A-BF0F-E854-37BB-4887FFEB1AEB}"/>
              </a:ext>
            </a:extLst>
          </p:cNvPr>
          <p:cNvSpPr>
            <a:spLocks noGrp="1"/>
          </p:cNvSpPr>
          <p:nvPr>
            <p:ph idx="1"/>
          </p:nvPr>
        </p:nvSpPr>
        <p:spPr>
          <a:xfrm>
            <a:off x="685800" y="1304925"/>
            <a:ext cx="10668000" cy="4872038"/>
          </a:xfrm>
        </p:spPr>
        <p:txBody>
          <a:bodyPr/>
          <a:lstStyle/>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INTRODUCTION</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LITERATURE SURVEY</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PROBLEM STATEMENT</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METHODOLOGY</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RESULTS &amp; DISCUSSIONS</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CONCLUSION</a:t>
            </a:r>
          </a:p>
          <a:p>
            <a:pPr marL="514350" indent="-51435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REFERENCES</a:t>
            </a:r>
          </a:p>
          <a:p>
            <a:pPr marL="0" indent="0">
              <a:buNone/>
            </a:pPr>
            <a:endParaRPr lang="en-IN" dirty="0"/>
          </a:p>
        </p:txBody>
      </p:sp>
      <p:sp>
        <p:nvSpPr>
          <p:cNvPr id="4" name="Footer Placeholder 3">
            <a:extLst>
              <a:ext uri="{FF2B5EF4-FFF2-40B4-BE49-F238E27FC236}">
                <a16:creationId xmlns:a16="http://schemas.microsoft.com/office/drawing/2014/main" id="{073BA987-F67B-968D-5709-68162F08F506}"/>
              </a:ext>
            </a:extLst>
          </p:cNvPr>
          <p:cNvSpPr>
            <a:spLocks noGrp="1"/>
          </p:cNvSpPr>
          <p:nvPr>
            <p:ph type="ftr" sz="quarter" idx="11"/>
          </p:nvPr>
        </p:nvSpPr>
        <p:spPr>
          <a:xfrm>
            <a:off x="4038600" y="6356350"/>
            <a:ext cx="4114800" cy="365125"/>
          </a:xfrm>
        </p:spPr>
        <p:txBody>
          <a:bodyPr/>
          <a:lstStyle/>
          <a:p>
            <a:r>
              <a:t>Dept. of AI &amp; DS, GAT</a:t>
            </a:r>
          </a:p>
        </p:txBody>
      </p:sp>
      <p:sp>
        <p:nvSpPr>
          <p:cNvPr id="5" name="Slide Number Placeholder 4">
            <a:extLst>
              <a:ext uri="{FF2B5EF4-FFF2-40B4-BE49-F238E27FC236}">
                <a16:creationId xmlns:a16="http://schemas.microsoft.com/office/drawing/2014/main" id="{4A8524E2-28FB-716E-5408-C713ABF0A3FA}"/>
              </a:ext>
            </a:extLst>
          </p:cNvPr>
          <p:cNvSpPr>
            <a:spLocks noGrp="1"/>
          </p:cNvSpPr>
          <p:nvPr>
            <p:ph type="sldNum" sz="quarter" idx="12"/>
          </p:nvPr>
        </p:nvSpPr>
        <p:spPr>
          <a:xfrm>
            <a:off x="8610600" y="6356350"/>
            <a:ext cx="2743200" cy="365125"/>
          </a:xfrm>
        </p:spPr>
        <p:txBody>
          <a:bodyPr/>
          <a:lstStyle/>
          <a:p>
            <a:fld id="{6C62AD7F-F6AD-4FB1-B598-A02559CCFE19}" type="slidenum">
              <a:rPr lang="en-US" smtClean="0"/>
              <a:t>2</a:t>
            </a:fld>
            <a:endParaRPr lang="en-US"/>
          </a:p>
        </p:txBody>
      </p:sp>
    </p:spTree>
    <p:extLst>
      <p:ext uri="{BB962C8B-B14F-4D97-AF65-F5344CB8AC3E}">
        <p14:creationId xmlns:p14="http://schemas.microsoft.com/office/powerpoint/2010/main" val="1214843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278" y="377441"/>
            <a:ext cx="10515600" cy="566691"/>
          </a:xfrm>
        </p:spPr>
        <p:txBody>
          <a:bodyPr>
            <a:normAutofit/>
          </a:bodyPr>
          <a:lstStyle/>
          <a:p>
            <a:pPr algn="ctr"/>
            <a:r>
              <a:rPr lang="en-US" sz="24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INTRODUCTION </a:t>
            </a:r>
          </a:p>
        </p:txBody>
      </p:sp>
      <p:sp>
        <p:nvSpPr>
          <p:cNvPr id="4" name="Footer Placeholder 3">
            <a:extLst>
              <a:ext uri="{FF2B5EF4-FFF2-40B4-BE49-F238E27FC236}">
                <a16:creationId xmlns:a16="http://schemas.microsoft.com/office/drawing/2014/main" id="{2676E084-3B5C-7864-6E88-AF5582C594BF}"/>
              </a:ext>
            </a:extLst>
          </p:cNvPr>
          <p:cNvSpPr>
            <a:spLocks noGrp="1"/>
          </p:cNvSpPr>
          <p:nvPr>
            <p:ph type="ftr" sz="quarter" idx="11"/>
          </p:nvPr>
        </p:nvSpPr>
        <p:spPr>
          <a:xfrm>
            <a:off x="4038600" y="6356350"/>
            <a:ext cx="4114800" cy="365125"/>
          </a:xfrm>
        </p:spPr>
        <p:txBody>
          <a:bodyPr/>
          <a:lstStyle/>
          <a:p>
            <a:r>
              <a:t>Dept. of AI &amp; DS, GAT</a:t>
            </a:r>
          </a:p>
        </p:txBody>
      </p:sp>
      <p:sp>
        <p:nvSpPr>
          <p:cNvPr id="5" name="Slide Number Placeholder 4">
            <a:extLst>
              <a:ext uri="{FF2B5EF4-FFF2-40B4-BE49-F238E27FC236}">
                <a16:creationId xmlns:a16="http://schemas.microsoft.com/office/drawing/2014/main" id="{AA473D02-FE2A-2F0C-4C28-295FFC42BAD2}"/>
              </a:ext>
            </a:extLst>
          </p:cNvPr>
          <p:cNvSpPr>
            <a:spLocks noGrp="1"/>
          </p:cNvSpPr>
          <p:nvPr>
            <p:ph type="sldNum" sz="quarter" idx="12"/>
          </p:nvPr>
        </p:nvSpPr>
        <p:spPr>
          <a:xfrm>
            <a:off x="8610600" y="6356350"/>
            <a:ext cx="2743200" cy="365125"/>
          </a:xfrm>
        </p:spPr>
        <p:txBody>
          <a:bodyPr/>
          <a:lstStyle/>
          <a:p>
            <a:fld id="{6C62AD7F-F6AD-4FB1-B598-A02559CCFE19}" type="slidenum">
              <a:rPr lang="en-US" smtClean="0"/>
              <a:t>3</a:t>
            </a:fld>
            <a:endParaRPr lang="en-US"/>
          </a:p>
        </p:txBody>
      </p:sp>
      <p:sp>
        <p:nvSpPr>
          <p:cNvPr id="6" name="Rectangle 1">
            <a:extLst>
              <a:ext uri="{FF2B5EF4-FFF2-40B4-BE49-F238E27FC236}">
                <a16:creationId xmlns:a16="http://schemas.microsoft.com/office/drawing/2014/main" id="{6BB5CF21-07A1-1149-A75F-6EFB4D617A1D}"/>
              </a:ext>
            </a:extLst>
          </p:cNvPr>
          <p:cNvSpPr>
            <a:spLocks noGrp="1" noChangeArrowheads="1"/>
          </p:cNvSpPr>
          <p:nvPr>
            <p:ph idx="1"/>
          </p:nvPr>
        </p:nvSpPr>
        <p:spPr bwMode="auto">
          <a:xfrm>
            <a:off x="255436" y="1292171"/>
            <a:ext cx="1124881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GDP reflects India’s overall economic performance and structural transformation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 economy has shifted from agriculture to industry and services, driven by reforms and globalization.</a:t>
            </a: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Despite growth, unemployment, inequality, and inflation remain major challenges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AI and data analytics now enhance GDP forecasting and policy planning.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Government initiatives like </a:t>
            </a:r>
            <a:r>
              <a:rPr lang="en-US" sz="1800" i="1" dirty="0">
                <a:latin typeface="Times New Roman" panose="02020603050405020304" pitchFamily="18" charset="0"/>
                <a:cs typeface="Times New Roman" panose="02020603050405020304" pitchFamily="18" charset="0"/>
              </a:rPr>
              <a:t>Make in India and Digital India </a:t>
            </a:r>
            <a:r>
              <a:rPr lang="en-US" sz="1800" dirty="0">
                <a:latin typeface="Times New Roman" panose="02020603050405020304" pitchFamily="18" charset="0"/>
                <a:cs typeface="Times New Roman" panose="02020603050405020304" pitchFamily="18" charset="0"/>
              </a:rPr>
              <a:t>aim to boost self-reliance and industrial growth.</a:t>
            </a: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External shocks (COVID-19, global tensions) impact economic stability and recovery.</a:t>
            </a:r>
          </a:p>
          <a:p>
            <a:pPr marL="0" lv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 study focuses on analyzing GDP trends, identifying key growth drivers, and promoting sustainable, inclusive development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This outcomes aims to analyze India’s GDP trends, determine key determinants of growth, and develop data-driven forecasting models for sustainable and inclusive development.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174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224" y="545355"/>
            <a:ext cx="10515600" cy="601526"/>
          </a:xfrm>
        </p:spPr>
        <p:txBody>
          <a:bodyPr>
            <a:normAutofit/>
          </a:bodyPr>
          <a:lstStyle/>
          <a:p>
            <a:pPr algn="ctr"/>
            <a:r>
              <a:rPr lang="en-US" sz="2800" b="1" dirty="0">
                <a:latin typeface="Times New Roman" panose="02020603050405020304" pitchFamily="18" charset="0"/>
                <a:cs typeface="Times New Roman" panose="02020603050405020304" pitchFamily="18" charset="0"/>
              </a:rPr>
              <a:t>LITERATURE SURVEY</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0224" y="1272067"/>
            <a:ext cx="10515600" cy="5364479"/>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B5C5A47-7060-A676-EBD2-35BA51431D89}"/>
              </a:ext>
            </a:extLst>
          </p:cNvPr>
          <p:cNvSpPr>
            <a:spLocks noGrp="1"/>
          </p:cNvSpPr>
          <p:nvPr>
            <p:ph type="ftr" sz="quarter" idx="11"/>
          </p:nvPr>
        </p:nvSpPr>
        <p:spPr>
          <a:xfrm>
            <a:off x="4038600" y="6356350"/>
            <a:ext cx="4114800" cy="365125"/>
          </a:xfrm>
        </p:spPr>
        <p:txBody>
          <a:bodyPr/>
          <a:lstStyle/>
          <a:p>
            <a:r>
              <a:t>Dept. of AI &amp; DS, GAT</a:t>
            </a:r>
          </a:p>
        </p:txBody>
      </p:sp>
      <p:sp>
        <p:nvSpPr>
          <p:cNvPr id="5" name="Slide Number Placeholder 4">
            <a:extLst>
              <a:ext uri="{FF2B5EF4-FFF2-40B4-BE49-F238E27FC236}">
                <a16:creationId xmlns:a16="http://schemas.microsoft.com/office/drawing/2014/main" id="{D5880C99-0B21-7D75-6D6E-0FED5A29F359}"/>
              </a:ext>
            </a:extLst>
          </p:cNvPr>
          <p:cNvSpPr>
            <a:spLocks noGrp="1"/>
          </p:cNvSpPr>
          <p:nvPr>
            <p:ph type="sldNum" sz="quarter" idx="12"/>
          </p:nvPr>
        </p:nvSpPr>
        <p:spPr>
          <a:xfrm>
            <a:off x="8610600" y="6356350"/>
            <a:ext cx="2743200" cy="365125"/>
          </a:xfrm>
        </p:spPr>
        <p:txBody>
          <a:bodyPr/>
          <a:lstStyle/>
          <a:p>
            <a:fld id="{6C62AD7F-F6AD-4FB1-B598-A02559CCFE19}" type="slidenum">
              <a:rPr lang="en-US" smtClean="0"/>
              <a:t>4</a:t>
            </a:fld>
            <a:endParaRPr lang="en-US"/>
          </a:p>
        </p:txBody>
      </p:sp>
      <p:graphicFrame>
        <p:nvGraphicFramePr>
          <p:cNvPr id="7" name="Table 6">
            <a:extLst>
              <a:ext uri="{FF2B5EF4-FFF2-40B4-BE49-F238E27FC236}">
                <a16:creationId xmlns:a16="http://schemas.microsoft.com/office/drawing/2014/main" id="{1D038C20-C68E-5291-EAA3-CD8F0E915E6C}"/>
              </a:ext>
            </a:extLst>
          </p:cNvPr>
          <p:cNvGraphicFramePr>
            <a:graphicFrameLocks noGrp="1"/>
          </p:cNvGraphicFramePr>
          <p:nvPr>
            <p:extLst>
              <p:ext uri="{D42A27DB-BD31-4B8C-83A1-F6EECF244321}">
                <p14:modId xmlns:p14="http://schemas.microsoft.com/office/powerpoint/2010/main" val="894253737"/>
              </p:ext>
            </p:extLst>
          </p:nvPr>
        </p:nvGraphicFramePr>
        <p:xfrm>
          <a:off x="468923" y="1343723"/>
          <a:ext cx="11153189" cy="4636182"/>
        </p:xfrm>
        <a:graphic>
          <a:graphicData uri="http://schemas.openxmlformats.org/drawingml/2006/table">
            <a:tbl>
              <a:tblPr firstRow="1" bandRow="1">
                <a:tableStyleId>{5C22544A-7EE6-4342-B048-85BDC9FD1C3A}</a:tableStyleId>
              </a:tblPr>
              <a:tblGrid>
                <a:gridCol w="1231540">
                  <a:extLst>
                    <a:ext uri="{9D8B030D-6E8A-4147-A177-3AD203B41FA5}">
                      <a16:colId xmlns:a16="http://schemas.microsoft.com/office/drawing/2014/main" val="20000"/>
                    </a:ext>
                  </a:extLst>
                </a:gridCol>
                <a:gridCol w="2089999">
                  <a:extLst>
                    <a:ext uri="{9D8B030D-6E8A-4147-A177-3AD203B41FA5}">
                      <a16:colId xmlns:a16="http://schemas.microsoft.com/office/drawing/2014/main" val="20001"/>
                    </a:ext>
                  </a:extLst>
                </a:gridCol>
                <a:gridCol w="2141415">
                  <a:extLst>
                    <a:ext uri="{9D8B030D-6E8A-4147-A177-3AD203B41FA5}">
                      <a16:colId xmlns:a16="http://schemas.microsoft.com/office/drawing/2014/main" val="20002"/>
                    </a:ext>
                  </a:extLst>
                </a:gridCol>
                <a:gridCol w="1883508">
                  <a:extLst>
                    <a:ext uri="{9D8B030D-6E8A-4147-A177-3AD203B41FA5}">
                      <a16:colId xmlns:a16="http://schemas.microsoft.com/office/drawing/2014/main" val="20003"/>
                    </a:ext>
                  </a:extLst>
                </a:gridCol>
                <a:gridCol w="1942782">
                  <a:extLst>
                    <a:ext uri="{9D8B030D-6E8A-4147-A177-3AD203B41FA5}">
                      <a16:colId xmlns:a16="http://schemas.microsoft.com/office/drawing/2014/main" val="20004"/>
                    </a:ext>
                  </a:extLst>
                </a:gridCol>
                <a:gridCol w="1863945">
                  <a:extLst>
                    <a:ext uri="{9D8B030D-6E8A-4147-A177-3AD203B41FA5}">
                      <a16:colId xmlns:a16="http://schemas.microsoft.com/office/drawing/2014/main" val="20005"/>
                    </a:ext>
                  </a:extLst>
                </a:gridCol>
              </a:tblGrid>
              <a:tr h="629456">
                <a:tc>
                  <a:txBody>
                    <a:bodyPr/>
                    <a:lstStyle/>
                    <a:p>
                      <a:pPr algn="ctr">
                        <a:defRPr sz="1000" b="1"/>
                      </a:pPr>
                      <a:r>
                        <a:rPr sz="1200" dirty="0"/>
                        <a:t>Paper No.</a:t>
                      </a:r>
                    </a:p>
                  </a:txBody>
                  <a:tcPr>
                    <a:solidFill>
                      <a:schemeClr val="accent1"/>
                    </a:solidFill>
                  </a:tcPr>
                </a:tc>
                <a:tc>
                  <a:txBody>
                    <a:bodyPr/>
                    <a:lstStyle/>
                    <a:p>
                      <a:pPr algn="ctr">
                        <a:defRPr sz="1000" b="1"/>
                      </a:pPr>
                      <a:r>
                        <a:rPr sz="1200" dirty="0"/>
                        <a:t>Methodology</a:t>
                      </a:r>
                    </a:p>
                  </a:txBody>
                  <a:tcPr>
                    <a:solidFill>
                      <a:schemeClr val="accent1"/>
                    </a:solidFill>
                  </a:tcPr>
                </a:tc>
                <a:tc>
                  <a:txBody>
                    <a:bodyPr/>
                    <a:lstStyle/>
                    <a:p>
                      <a:pPr algn="ctr">
                        <a:defRPr sz="1000" b="1"/>
                      </a:pPr>
                      <a:r>
                        <a:rPr sz="1200" dirty="0"/>
                        <a:t>Features</a:t>
                      </a:r>
                    </a:p>
                  </a:txBody>
                  <a:tcPr/>
                </a:tc>
                <a:tc>
                  <a:txBody>
                    <a:bodyPr/>
                    <a:lstStyle/>
                    <a:p>
                      <a:pPr algn="ctr">
                        <a:defRPr sz="1000" b="1"/>
                      </a:pPr>
                      <a:r>
                        <a:rPr lang="en-US" sz="1200" dirty="0"/>
                        <a:t>Title And Author</a:t>
                      </a:r>
                      <a:endParaRPr sz="1200" dirty="0"/>
                    </a:p>
                  </a:txBody>
                  <a:tcPr/>
                </a:tc>
                <a:tc>
                  <a:txBody>
                    <a:bodyPr/>
                    <a:lstStyle/>
                    <a:p>
                      <a:pPr algn="ctr">
                        <a:defRPr sz="1000" b="1"/>
                      </a:pPr>
                      <a:r>
                        <a:rPr sz="1200"/>
                        <a:t>Advantages</a:t>
                      </a:r>
                    </a:p>
                  </a:txBody>
                  <a:tcPr/>
                </a:tc>
                <a:tc>
                  <a:txBody>
                    <a:bodyPr/>
                    <a:lstStyle/>
                    <a:p>
                      <a:pPr algn="ctr">
                        <a:defRPr sz="1000" b="1"/>
                      </a:pPr>
                      <a:r>
                        <a:rPr sz="1200"/>
                        <a:t>Disadvantages</a:t>
                      </a:r>
                    </a:p>
                  </a:txBody>
                  <a:tcPr/>
                </a:tc>
                <a:extLst>
                  <a:ext uri="{0D108BD9-81ED-4DB2-BD59-A6C34878D82A}">
                    <a16:rowId xmlns:a16="http://schemas.microsoft.com/office/drawing/2014/main" val="10000"/>
                  </a:ext>
                </a:extLst>
              </a:tr>
              <a:tr h="1010456">
                <a:tc>
                  <a:txBody>
                    <a:bodyPr/>
                    <a:lstStyle/>
                    <a:p>
                      <a:pPr>
                        <a:defRPr sz="900"/>
                      </a:pPr>
                      <a:r>
                        <a:rPr sz="1200" dirty="0">
                          <a:latin typeface="Times New Roman" panose="02020603050405020304" pitchFamily="18" charset="0"/>
                          <a:cs typeface="Times New Roman" panose="02020603050405020304" pitchFamily="18" charset="0"/>
                        </a:rPr>
                        <a:t>[1]</a:t>
                      </a:r>
                    </a:p>
                  </a:txBody>
                  <a:tcPr/>
                </a:tc>
                <a:tc>
                  <a:txBody>
                    <a:bodyPr/>
                    <a:lstStyle/>
                    <a:p>
                      <a:pPr>
                        <a:defRPr sz="900"/>
                      </a:pPr>
                      <a:r>
                        <a:rPr lang="en-IN" sz="1200" dirty="0">
                          <a:latin typeface="Times New Roman" panose="02020603050405020304" pitchFamily="18" charset="0"/>
                          <a:cs typeface="Times New Roman" panose="02020603050405020304" pitchFamily="18" charset="0"/>
                        </a:rPr>
                        <a:t>ARIMA </a:t>
                      </a:r>
                    </a:p>
                    <a:p>
                      <a:pPr>
                        <a:defRPr sz="900"/>
                      </a:pPr>
                      <a:r>
                        <a:rPr lang="en-IN" sz="1200" dirty="0">
                          <a:latin typeface="Times New Roman" panose="02020603050405020304" pitchFamily="18" charset="0"/>
                          <a:cs typeface="Times New Roman" panose="02020603050405020304" pitchFamily="18" charset="0"/>
                        </a:rPr>
                        <a:t>(Auto Regressive Integrated Moving Average</a:t>
                      </a:r>
                      <a:r>
                        <a:rPr lang="en-IN" sz="1200" dirty="0"/>
                        <a:t>)</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GDP growth rate</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latin typeface="Times New Roman" panose="02020603050405020304" pitchFamily="18" charset="0"/>
                          <a:cs typeface="Times New Roman" panose="02020603050405020304" pitchFamily="18" charset="0"/>
                        </a:rPr>
                        <a:t>B. Muma &amp; A. Karoki</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Good for short-term GDP forecasting with seasonal adjustments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Poor in handling nonlinear policy shocks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062210">
                <a:tc>
                  <a:txBody>
                    <a:bodyPr/>
                    <a:lstStyle/>
                    <a:p>
                      <a:pPr>
                        <a:defRPr sz="900"/>
                      </a:pPr>
                      <a:r>
                        <a:rPr sz="1200" dirty="0">
                          <a:latin typeface="Times New Roman" panose="02020603050405020304" pitchFamily="18" charset="0"/>
                          <a:cs typeface="Times New Roman" panose="02020603050405020304" pitchFamily="18" charset="0"/>
                        </a:rPr>
                        <a:t>[2]</a:t>
                      </a:r>
                    </a:p>
                  </a:txBody>
                  <a:tcPr/>
                </a:tc>
                <a:tc>
                  <a:txBody>
                    <a:bodyPr/>
                    <a:lstStyle/>
                    <a:p>
                      <a:pPr>
                        <a:defRPr sz="900"/>
                      </a:pPr>
                      <a:r>
                        <a:rPr lang="en-IN" sz="1200" dirty="0">
                          <a:latin typeface="Times New Roman" panose="02020603050405020304" pitchFamily="18" charset="0"/>
                          <a:cs typeface="Times New Roman" panose="02020603050405020304" pitchFamily="18" charset="0"/>
                        </a:rPr>
                        <a:t>Multiple Linear Regression </a:t>
                      </a:r>
                      <a:r>
                        <a:rPr sz="1200" dirty="0">
                          <a:latin typeface="Times New Roman" panose="02020603050405020304" pitchFamily="18" charset="0"/>
                          <a:cs typeface="Times New Roman" panose="02020603050405020304" pitchFamily="18" charset="0"/>
                        </a:rPr>
                        <a:t>.</a:t>
                      </a:r>
                    </a:p>
                  </a:txBody>
                  <a:tcPr/>
                </a:tc>
                <a:tc>
                  <a:txBody>
                    <a:bodyPr/>
                    <a:lstStyle/>
                    <a:p>
                      <a:pPr>
                        <a:defRPr sz="900"/>
                      </a:pPr>
                      <a:r>
                        <a:rPr lang="en-US" sz="1200" dirty="0">
                          <a:latin typeface="Times New Roman" panose="02020603050405020304" pitchFamily="18" charset="0"/>
                          <a:cs typeface="Times New Roman" panose="02020603050405020304" pitchFamily="18" charset="0"/>
                        </a:rPr>
                        <a:t>Agriculture, industry, ser- vices, investment, consumption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da-DK" sz="1200" dirty="0">
                          <a:latin typeface="Times New Roman" panose="02020603050405020304" pitchFamily="18" charset="0"/>
                          <a:cs typeface="Times New Roman" panose="02020603050405020304" pitchFamily="18" charset="0"/>
                        </a:rPr>
                        <a:t>M. D. Adewale etal</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Simple and interpretable; shows contribution of each sector </a:t>
                      </a:r>
                      <a:r>
                        <a:rPr sz="1200" dirty="0">
                          <a:latin typeface="Times New Roman" panose="02020603050405020304" pitchFamily="18" charset="0"/>
                          <a:cs typeface="Times New Roman" panose="02020603050405020304" pitchFamily="18" charset="0"/>
                        </a:rPr>
                        <a:t>.</a:t>
                      </a:r>
                    </a:p>
                  </a:txBody>
                  <a:tcPr/>
                </a:tc>
                <a:tc>
                  <a:txBody>
                    <a:bodyPr/>
                    <a:lstStyle/>
                    <a:p>
                      <a:pPr>
                        <a:defRPr sz="900"/>
                      </a:pPr>
                      <a:r>
                        <a:rPr lang="en-US" sz="1200" dirty="0">
                          <a:latin typeface="Times New Roman" panose="02020603050405020304" pitchFamily="18" charset="0"/>
                          <a:cs typeface="Times New Roman" panose="02020603050405020304" pitchFamily="18" charset="0"/>
                        </a:rPr>
                        <a:t>shows contribution of each sector Limited predictive accuracy with multicollinearity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14069">
                <a:tc>
                  <a:txBody>
                    <a:bodyPr/>
                    <a:lstStyle/>
                    <a:p>
                      <a:pPr>
                        <a:defRPr sz="900"/>
                      </a:pPr>
                      <a:r>
                        <a:rPr sz="1200" dirty="0">
                          <a:latin typeface="Times New Roman" panose="02020603050405020304" pitchFamily="18" charset="0"/>
                          <a:cs typeface="Times New Roman" panose="02020603050405020304" pitchFamily="18" charset="0"/>
                        </a:rPr>
                        <a:t>[3]</a:t>
                      </a:r>
                    </a:p>
                  </a:txBody>
                  <a:tcPr/>
                </a:tc>
                <a:tc>
                  <a:txBody>
                    <a:bodyPr/>
                    <a:lstStyle/>
                    <a:p>
                      <a:pPr>
                        <a:defRPr sz="900"/>
                      </a:pPr>
                      <a:r>
                        <a:rPr lang="en-IN" sz="1200" b="0" dirty="0">
                          <a:latin typeface="Times New Roman" panose="02020603050405020304" pitchFamily="18" charset="0"/>
                          <a:cs typeface="Times New Roman" panose="02020603050405020304" pitchFamily="18" charset="0"/>
                        </a:rPr>
                        <a:t>VAR (Vector Auto regression</a:t>
                      </a:r>
                      <a:r>
                        <a:rPr lang="en-IN" sz="1200" b="1" dirty="0"/>
                        <a:t>)</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GDP, inflation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t> </a:t>
                      </a:r>
                      <a:r>
                        <a:rPr lang="en-IN" sz="1200" dirty="0">
                          <a:latin typeface="Times New Roman" panose="02020603050405020304" pitchFamily="18" charset="0"/>
                          <a:cs typeface="Times New Roman" panose="02020603050405020304" pitchFamily="18" charset="0"/>
                        </a:rPr>
                        <a:t>M. Y. Shams, Z. Tarek</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Captures macro-variable interlinkages and causality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Requires stationarity; sensitive to lag selection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919991">
                <a:tc>
                  <a:txBody>
                    <a:bodyPr/>
                    <a:lstStyle/>
                    <a:p>
                      <a:pPr>
                        <a:defRPr sz="900"/>
                      </a:pPr>
                      <a:r>
                        <a:rPr sz="1200" dirty="0">
                          <a:latin typeface="Times New Roman" panose="02020603050405020304" pitchFamily="18" charset="0"/>
                          <a:cs typeface="Times New Roman" panose="02020603050405020304" pitchFamily="18" charset="0"/>
                        </a:rPr>
                        <a:t>[4]</a:t>
                      </a:r>
                    </a:p>
                  </a:txBody>
                  <a:tcPr/>
                </a:tc>
                <a:tc>
                  <a:txBody>
                    <a:bodyPr/>
                    <a:lstStyle/>
                    <a:p>
                      <a:pPr>
                        <a:defRPr sz="900"/>
                      </a:pPr>
                      <a:r>
                        <a:rPr lang="en-US" sz="1200" dirty="0">
                          <a:latin typeface="Times New Roman" panose="02020603050405020304" pitchFamily="18" charset="0"/>
                          <a:cs typeface="Times New Roman" panose="02020603050405020304" pitchFamily="18" charset="0"/>
                        </a:rPr>
                        <a:t>Machine Learning Regression</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 employment, imports, policy rate</a:t>
                      </a:r>
                      <a:endParaRPr sz="1200" dirty="0">
                        <a:latin typeface="Times New Roman" panose="02020603050405020304" pitchFamily="18" charset="0"/>
                        <a:cs typeface="Times New Roman" panose="02020603050405020304" pitchFamily="18" charset="0"/>
                      </a:endParaRPr>
                    </a:p>
                  </a:txBody>
                  <a:tcPr/>
                </a:tc>
                <a:tc>
                  <a:txBody>
                    <a:bodyPr/>
                    <a:lstStyle/>
                    <a:p>
                      <a:pPr algn="ctr">
                        <a:defRPr sz="900"/>
                      </a:pPr>
                      <a:r>
                        <a:rPr lang="en-IN" sz="1200" dirty="0">
                          <a:latin typeface="Times New Roman" panose="02020603050405020304" pitchFamily="18" charset="0"/>
                          <a:cs typeface="Times New Roman" panose="02020603050405020304" pitchFamily="18" charset="0"/>
                        </a:rPr>
                        <a:t>J. Yoon</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Handles nonlinear patterns strong forecasting accuracy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Less interpretable; requires large data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4481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1477E5D-A2D0-12AF-8C7F-97080850FCF4}"/>
              </a:ext>
            </a:extLst>
          </p:cNvPr>
          <p:cNvSpPr>
            <a:spLocks noGrp="1"/>
          </p:cNvSpPr>
          <p:nvPr>
            <p:ph type="ftr" sz="quarter" idx="11"/>
          </p:nvPr>
        </p:nvSpPr>
        <p:spPr/>
        <p:txBody>
          <a:bodyPr/>
          <a:lstStyle/>
          <a:p>
            <a:r>
              <a:rPr lang="en-US"/>
              <a:t>Dept. of AI &amp; DS, GAT</a:t>
            </a:r>
          </a:p>
        </p:txBody>
      </p:sp>
      <p:sp>
        <p:nvSpPr>
          <p:cNvPr id="3" name="Slide Number Placeholder 2">
            <a:extLst>
              <a:ext uri="{FF2B5EF4-FFF2-40B4-BE49-F238E27FC236}">
                <a16:creationId xmlns:a16="http://schemas.microsoft.com/office/drawing/2014/main" id="{F0DE5D5D-578D-4065-60A3-E78644374393}"/>
              </a:ext>
            </a:extLst>
          </p:cNvPr>
          <p:cNvSpPr>
            <a:spLocks noGrp="1"/>
          </p:cNvSpPr>
          <p:nvPr>
            <p:ph type="sldNum" sz="quarter" idx="12"/>
          </p:nvPr>
        </p:nvSpPr>
        <p:spPr/>
        <p:txBody>
          <a:bodyPr/>
          <a:lstStyle/>
          <a:p>
            <a:fld id="{6C62AD7F-F6AD-4FB1-B598-A02559CCFE19}" type="slidenum">
              <a:rPr lang="en-US" smtClean="0"/>
              <a:t>5</a:t>
            </a:fld>
            <a:endParaRPr lang="en-US"/>
          </a:p>
        </p:txBody>
      </p:sp>
      <p:graphicFrame>
        <p:nvGraphicFramePr>
          <p:cNvPr id="4" name="Table 3">
            <a:extLst>
              <a:ext uri="{FF2B5EF4-FFF2-40B4-BE49-F238E27FC236}">
                <a16:creationId xmlns:a16="http://schemas.microsoft.com/office/drawing/2014/main" id="{004B3A58-8669-FCD6-B23A-4950883264DE}"/>
              </a:ext>
            </a:extLst>
          </p:cNvPr>
          <p:cNvGraphicFramePr>
            <a:graphicFrameLocks noGrp="1"/>
          </p:cNvGraphicFramePr>
          <p:nvPr>
            <p:extLst>
              <p:ext uri="{D42A27DB-BD31-4B8C-83A1-F6EECF244321}">
                <p14:modId xmlns:p14="http://schemas.microsoft.com/office/powerpoint/2010/main" val="2000990930"/>
              </p:ext>
            </p:extLst>
          </p:nvPr>
        </p:nvGraphicFramePr>
        <p:xfrm>
          <a:off x="484554" y="1343722"/>
          <a:ext cx="11137558" cy="4405730"/>
        </p:xfrm>
        <a:graphic>
          <a:graphicData uri="http://schemas.openxmlformats.org/drawingml/2006/table">
            <a:tbl>
              <a:tblPr firstRow="1" bandRow="1">
                <a:tableStyleId>{5C22544A-7EE6-4342-B048-85BDC9FD1C3A}</a:tableStyleId>
              </a:tblPr>
              <a:tblGrid>
                <a:gridCol w="1201882">
                  <a:extLst>
                    <a:ext uri="{9D8B030D-6E8A-4147-A177-3AD203B41FA5}">
                      <a16:colId xmlns:a16="http://schemas.microsoft.com/office/drawing/2014/main" val="20000"/>
                    </a:ext>
                  </a:extLst>
                </a:gridCol>
                <a:gridCol w="2115002">
                  <a:extLst>
                    <a:ext uri="{9D8B030D-6E8A-4147-A177-3AD203B41FA5}">
                      <a16:colId xmlns:a16="http://schemas.microsoft.com/office/drawing/2014/main" val="20001"/>
                    </a:ext>
                  </a:extLst>
                </a:gridCol>
                <a:gridCol w="2146218">
                  <a:extLst>
                    <a:ext uri="{9D8B030D-6E8A-4147-A177-3AD203B41FA5}">
                      <a16:colId xmlns:a16="http://schemas.microsoft.com/office/drawing/2014/main" val="20002"/>
                    </a:ext>
                  </a:extLst>
                </a:gridCol>
                <a:gridCol w="1873064">
                  <a:extLst>
                    <a:ext uri="{9D8B030D-6E8A-4147-A177-3AD203B41FA5}">
                      <a16:colId xmlns:a16="http://schemas.microsoft.com/office/drawing/2014/main" val="20003"/>
                    </a:ext>
                  </a:extLst>
                </a:gridCol>
                <a:gridCol w="1940059">
                  <a:extLst>
                    <a:ext uri="{9D8B030D-6E8A-4147-A177-3AD203B41FA5}">
                      <a16:colId xmlns:a16="http://schemas.microsoft.com/office/drawing/2014/main" val="20004"/>
                    </a:ext>
                  </a:extLst>
                </a:gridCol>
                <a:gridCol w="1861333">
                  <a:extLst>
                    <a:ext uri="{9D8B030D-6E8A-4147-A177-3AD203B41FA5}">
                      <a16:colId xmlns:a16="http://schemas.microsoft.com/office/drawing/2014/main" val="20005"/>
                    </a:ext>
                  </a:extLst>
                </a:gridCol>
              </a:tblGrid>
              <a:tr h="745427">
                <a:tc>
                  <a:txBody>
                    <a:bodyPr/>
                    <a:lstStyle/>
                    <a:p>
                      <a:pPr algn="ctr">
                        <a:defRPr sz="1000" b="1"/>
                      </a:pPr>
                      <a:r>
                        <a:rPr sz="1200" dirty="0"/>
                        <a:t>Paper No.</a:t>
                      </a:r>
                    </a:p>
                  </a:txBody>
                  <a:tcPr>
                    <a:solidFill>
                      <a:schemeClr val="accent1"/>
                    </a:solidFill>
                  </a:tcPr>
                </a:tc>
                <a:tc>
                  <a:txBody>
                    <a:bodyPr/>
                    <a:lstStyle/>
                    <a:p>
                      <a:pPr algn="ctr">
                        <a:defRPr sz="1000" b="1"/>
                      </a:pPr>
                      <a:r>
                        <a:rPr sz="1200" dirty="0"/>
                        <a:t>Methodology</a:t>
                      </a:r>
                    </a:p>
                  </a:txBody>
                  <a:tcPr>
                    <a:solidFill>
                      <a:schemeClr val="accent1"/>
                    </a:solidFill>
                  </a:tcPr>
                </a:tc>
                <a:tc>
                  <a:txBody>
                    <a:bodyPr/>
                    <a:lstStyle/>
                    <a:p>
                      <a:pPr algn="ctr">
                        <a:defRPr sz="1000" b="1"/>
                      </a:pPr>
                      <a:r>
                        <a:rPr sz="1200" dirty="0"/>
                        <a:t>Features</a:t>
                      </a:r>
                    </a:p>
                  </a:txBody>
                  <a:tcPr/>
                </a:tc>
                <a:tc>
                  <a:txBody>
                    <a:bodyPr/>
                    <a:lstStyle/>
                    <a:p>
                      <a:pPr algn="ctr">
                        <a:defRPr sz="1000" b="1"/>
                      </a:pPr>
                      <a:r>
                        <a:rPr lang="en-US" sz="1200" dirty="0"/>
                        <a:t>Title And Author</a:t>
                      </a:r>
                      <a:endParaRPr sz="1200" dirty="0"/>
                    </a:p>
                  </a:txBody>
                  <a:tcPr/>
                </a:tc>
                <a:tc>
                  <a:txBody>
                    <a:bodyPr/>
                    <a:lstStyle/>
                    <a:p>
                      <a:pPr algn="ctr">
                        <a:defRPr sz="1000" b="1"/>
                      </a:pPr>
                      <a:r>
                        <a:rPr sz="1200"/>
                        <a:t>Advantages</a:t>
                      </a:r>
                    </a:p>
                  </a:txBody>
                  <a:tcPr/>
                </a:tc>
                <a:tc>
                  <a:txBody>
                    <a:bodyPr/>
                    <a:lstStyle/>
                    <a:p>
                      <a:pPr algn="ctr">
                        <a:defRPr sz="1000" b="1"/>
                      </a:pPr>
                      <a:r>
                        <a:rPr sz="1200"/>
                        <a:t>Disadvantages</a:t>
                      </a:r>
                    </a:p>
                  </a:txBody>
                  <a:tcPr/>
                </a:tc>
                <a:extLst>
                  <a:ext uri="{0D108BD9-81ED-4DB2-BD59-A6C34878D82A}">
                    <a16:rowId xmlns:a16="http://schemas.microsoft.com/office/drawing/2014/main" val="10000"/>
                  </a:ext>
                </a:extLst>
              </a:tr>
              <a:tr h="879093">
                <a:tc>
                  <a:txBody>
                    <a:bodyPr/>
                    <a:lstStyle/>
                    <a:p>
                      <a:pPr>
                        <a:defRPr sz="900"/>
                      </a:pPr>
                      <a:r>
                        <a:rPr lang="en-US" sz="1200" dirty="0">
                          <a:latin typeface="Times New Roman" panose="02020603050405020304" pitchFamily="18" charset="0"/>
                          <a:cs typeface="Times New Roman" panose="02020603050405020304" pitchFamily="18" charset="0"/>
                        </a:rPr>
                        <a:t>[5]</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latin typeface="Times New Roman" panose="02020603050405020304" pitchFamily="18" charset="0"/>
                          <a:cs typeface="Times New Roman" panose="02020603050405020304" pitchFamily="18" charset="0"/>
                        </a:rPr>
                        <a:t>Support Vector Regression </a:t>
                      </a: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US" sz="1200" dirty="0">
                          <a:latin typeface="Times New Roman" panose="02020603050405020304" pitchFamily="18" charset="0"/>
                          <a:cs typeface="Times New Roman" panose="02020603050405020304" pitchFamily="18" charset="0"/>
                        </a:rPr>
                        <a:t>GDP, inflation, interest rate, remittances </a:t>
                      </a:r>
                    </a:p>
                    <a:p>
                      <a:pPr>
                        <a:defRPr sz="900"/>
                      </a:pP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latin typeface="Times New Roman" panose="02020603050405020304" pitchFamily="18" charset="0"/>
                          <a:cs typeface="Times New Roman" panose="02020603050405020304" pitchFamily="18" charset="0"/>
                        </a:rPr>
                        <a:t>B. Muma &amp; A. Karoki</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Good for short-term GDP forecasting with seasonal adjustments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Poor in handling nonlinear policy shocks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85814">
                <a:tc>
                  <a:txBody>
                    <a:bodyPr/>
                    <a:lstStyle/>
                    <a:p>
                      <a:pPr>
                        <a:defRPr sz="900"/>
                      </a:pPr>
                      <a:r>
                        <a:rPr sz="12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6]</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latin typeface="Times New Roman" panose="02020603050405020304" pitchFamily="18" charset="0"/>
                          <a:cs typeface="Times New Roman" panose="02020603050405020304" pitchFamily="18" charset="0"/>
                        </a:rPr>
                        <a:t>Bayesian Structural Time Series</a:t>
                      </a: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US" sz="1200" dirty="0">
                          <a:latin typeface="Times New Roman" panose="02020603050405020304" pitchFamily="18" charset="0"/>
                          <a:cs typeface="Times New Roman" panose="02020603050405020304" pitchFamily="18" charset="0"/>
                        </a:rPr>
                        <a:t>GDP, global commodity index, policy dummies </a:t>
                      </a:r>
                    </a:p>
                    <a:p>
                      <a:pPr>
                        <a:defRPr sz="900"/>
                      </a:pP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err="1">
                          <a:latin typeface="Times New Roman" panose="02020603050405020304" pitchFamily="18" charset="0"/>
                          <a:cs typeface="Times New Roman" panose="02020603050405020304" pitchFamily="18" charset="0"/>
                        </a:rPr>
                        <a:t>Bheemanna</a:t>
                      </a:r>
                      <a:r>
                        <a:rPr lang="en-IN" sz="1200" dirty="0">
                          <a:latin typeface="Times New Roman" panose="02020603050405020304" pitchFamily="18" charset="0"/>
                          <a:cs typeface="Times New Roman" panose="02020603050405020304" pitchFamily="18" charset="0"/>
                        </a:rPr>
                        <a:t> &amp; M. N. </a:t>
                      </a:r>
                      <a:r>
                        <a:rPr lang="en-IN" sz="1200" dirty="0" err="1">
                          <a:latin typeface="Times New Roman" panose="02020603050405020304" pitchFamily="18" charset="0"/>
                          <a:cs typeface="Times New Roman" panose="02020603050405020304" pitchFamily="18" charset="0"/>
                        </a:rPr>
                        <a:t>Megeri</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Probabilistic output with uncertainty intervals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IN" sz="1200" dirty="0">
                          <a:latin typeface="Times New Roman" panose="02020603050405020304" pitchFamily="18" charset="0"/>
                          <a:cs typeface="Times New Roman" panose="02020603050405020304" pitchFamily="18" charset="0"/>
                        </a:rPr>
                        <a:t>Computationally intensive </a:t>
                      </a:r>
                    </a:p>
                    <a:p>
                      <a:pPr>
                        <a:defRPr sz="900"/>
                      </a:pP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997698">
                <a:tc>
                  <a:txBody>
                    <a:bodyPr/>
                    <a:lstStyle/>
                    <a:p>
                      <a:pPr>
                        <a:defRPr sz="900"/>
                      </a:pPr>
                      <a:r>
                        <a:rPr sz="12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7]</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IN" sz="1200" dirty="0">
                          <a:latin typeface="Times New Roman" panose="02020603050405020304" pitchFamily="18" charset="0"/>
                          <a:cs typeface="Times New Roman" panose="02020603050405020304" pitchFamily="18" charset="0"/>
                        </a:rPr>
                        <a:t>Panel Data Regression</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GDP, inflation </a:t>
                      </a:r>
                      <a:endParaRPr sz="1200" dirty="0">
                        <a:latin typeface="Times New Roman" panose="02020603050405020304" pitchFamily="18" charset="0"/>
                        <a:cs typeface="Times New Roman" panose="02020603050405020304" pitchFamily="18" charset="0"/>
                      </a:endParaRPr>
                    </a:p>
                  </a:txBody>
                  <a:tcPr/>
                </a:tc>
                <a:tc>
                  <a:txBody>
                    <a:bodyPr/>
                    <a:lstStyle/>
                    <a:p>
                      <a:pPr algn="ctr">
                        <a:defRPr sz="900"/>
                      </a:pPr>
                      <a:r>
                        <a:rPr lang="en-IN" sz="1200" dirty="0">
                          <a:latin typeface="Times New Roman" panose="02020603050405020304" pitchFamily="18" charset="0"/>
                          <a:cs typeface="Times New Roman" panose="02020603050405020304" pitchFamily="18" charset="0"/>
                        </a:rPr>
                        <a:t> B. Ioan</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Captures macro-variable interlinkages and causality </a:t>
                      </a:r>
                      <a:endParaRPr sz="1200" dirty="0">
                        <a:latin typeface="Times New Roman" panose="02020603050405020304" pitchFamily="18" charset="0"/>
                        <a:cs typeface="Times New Roman" panose="02020603050405020304" pitchFamily="18" charset="0"/>
                      </a:endParaRPr>
                    </a:p>
                  </a:txBody>
                  <a:tcPr/>
                </a:tc>
                <a:tc>
                  <a:txBody>
                    <a:bodyPr/>
                    <a:lstStyle/>
                    <a:p>
                      <a:pPr>
                        <a:defRPr sz="900"/>
                      </a:pPr>
                      <a:r>
                        <a:rPr lang="en-US" sz="1200" dirty="0">
                          <a:latin typeface="Times New Roman" panose="02020603050405020304" pitchFamily="18" charset="0"/>
                          <a:cs typeface="Times New Roman" panose="02020603050405020304" pitchFamily="18" charset="0"/>
                        </a:rPr>
                        <a:t>Requires stationarity; sensitive to lag selection </a:t>
                      </a: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997698">
                <a:tc>
                  <a:txBody>
                    <a:bodyPr/>
                    <a:lstStyle/>
                    <a:p>
                      <a:pPr>
                        <a:defRPr sz="900"/>
                      </a:pPr>
                      <a:r>
                        <a:rPr lang="en-US" sz="1200" dirty="0">
                          <a:latin typeface="Times New Roman" panose="02020603050405020304" pitchFamily="18" charset="0"/>
                          <a:cs typeface="Times New Roman" panose="02020603050405020304" pitchFamily="18" charset="0"/>
                        </a:rPr>
                        <a:t>[8]</a:t>
                      </a: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IN" sz="1200" dirty="0">
                          <a:latin typeface="Times New Roman" panose="02020603050405020304" pitchFamily="18" charset="0"/>
                          <a:cs typeface="Times New Roman" panose="02020603050405020304" pitchFamily="18" charset="0"/>
                        </a:rPr>
                        <a:t>Input–Output Analysis </a:t>
                      </a:r>
                    </a:p>
                    <a:p>
                      <a:pPr>
                        <a:defRPr sz="900"/>
                      </a:pP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US" sz="1200" dirty="0">
                          <a:latin typeface="Times New Roman" panose="02020603050405020304" pitchFamily="18" charset="0"/>
                          <a:cs typeface="Times New Roman" panose="02020603050405020304" pitchFamily="18" charset="0"/>
                        </a:rPr>
                        <a:t>Agriculture, industry, ser- vices, exports, energy in- put </a:t>
                      </a:r>
                    </a:p>
                    <a:p>
                      <a:pPr>
                        <a:defRPr sz="900"/>
                      </a:pPr>
                      <a:endParaRPr sz="1200" dirty="0">
                        <a:latin typeface="Times New Roman" panose="02020603050405020304" pitchFamily="18" charset="0"/>
                        <a:cs typeface="Times New Roman" panose="02020603050405020304" pitchFamily="18" charset="0"/>
                      </a:endParaRPr>
                    </a:p>
                  </a:txBody>
                  <a:tcPr/>
                </a:tc>
                <a:tc>
                  <a:txBody>
                    <a:bodyPr/>
                    <a:lstStyle/>
                    <a:p>
                      <a:pPr algn="ctr">
                        <a:defRPr sz="900"/>
                      </a:pPr>
                      <a:r>
                        <a:rPr lang="en-IN" sz="1200" dirty="0">
                          <a:latin typeface="Times New Roman" panose="02020603050405020304" pitchFamily="18" charset="0"/>
                          <a:cs typeface="Times New Roman" panose="02020603050405020304" pitchFamily="18" charset="0"/>
                        </a:rPr>
                        <a:t>P. Munjal</a:t>
                      </a: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IN" sz="1200" dirty="0">
                          <a:latin typeface="Times New Roman" panose="02020603050405020304" pitchFamily="18" charset="0"/>
                          <a:cs typeface="Times New Roman" panose="02020603050405020304" pitchFamily="18" charset="0"/>
                        </a:rPr>
                        <a:t>Quantifies sectoral contribution and linkages</a:t>
                      </a:r>
                    </a:p>
                    <a:p>
                      <a:pPr>
                        <a:defRPr sz="900"/>
                      </a:pPr>
                      <a:endParaRPr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900"/>
                      </a:pPr>
                      <a:r>
                        <a:rPr lang="en-US" sz="1200" dirty="0">
                          <a:latin typeface="Times New Roman" panose="02020603050405020304" pitchFamily="18" charset="0"/>
                          <a:cs typeface="Times New Roman" panose="02020603050405020304" pitchFamily="18" charset="0"/>
                        </a:rPr>
                        <a:t>Static; cannot forecast future shocks</a:t>
                      </a:r>
                    </a:p>
                    <a:p>
                      <a:pPr>
                        <a:defRPr sz="900"/>
                      </a:pPr>
                      <a:endParaRP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4462673"/>
                  </a:ext>
                </a:extLst>
              </a:tr>
            </a:tbl>
          </a:graphicData>
        </a:graphic>
      </p:graphicFrame>
      <p:sp>
        <p:nvSpPr>
          <p:cNvPr id="6" name="TextBox 5">
            <a:extLst>
              <a:ext uri="{FF2B5EF4-FFF2-40B4-BE49-F238E27FC236}">
                <a16:creationId xmlns:a16="http://schemas.microsoft.com/office/drawing/2014/main" id="{E67708D9-2104-210E-0150-BCB21F637FAF}"/>
              </a:ext>
            </a:extLst>
          </p:cNvPr>
          <p:cNvSpPr txBox="1"/>
          <p:nvPr/>
        </p:nvSpPr>
        <p:spPr>
          <a:xfrm>
            <a:off x="3048000" y="585328"/>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LITERATURE SURVEY</a:t>
            </a:r>
            <a:endParaRPr lang="en-IN" sz="2800" dirty="0"/>
          </a:p>
        </p:txBody>
      </p:sp>
    </p:spTree>
    <p:extLst>
      <p:ext uri="{BB962C8B-B14F-4D97-AF65-F5344CB8AC3E}">
        <p14:creationId xmlns:p14="http://schemas.microsoft.com/office/powerpoint/2010/main" val="4107251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6F27-CE58-58DC-9C96-CF148DA5B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69363-8A0B-BCD1-6052-8F099B61AA8A}"/>
              </a:ext>
            </a:extLst>
          </p:cNvPr>
          <p:cNvSpPr>
            <a:spLocks noGrp="1"/>
          </p:cNvSpPr>
          <p:nvPr>
            <p:ph type="title"/>
          </p:nvPr>
        </p:nvSpPr>
        <p:spPr>
          <a:xfrm>
            <a:off x="335902" y="365125"/>
            <a:ext cx="11017898"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PROBLEM STATEMENT </a:t>
            </a:r>
          </a:p>
        </p:txBody>
      </p:sp>
      <p:sp>
        <p:nvSpPr>
          <p:cNvPr id="4" name="Footer Placeholder 3">
            <a:extLst>
              <a:ext uri="{FF2B5EF4-FFF2-40B4-BE49-F238E27FC236}">
                <a16:creationId xmlns:a16="http://schemas.microsoft.com/office/drawing/2014/main" id="{94D3AB1A-4E0C-1C9F-2BF9-9F390F6DCBB9}"/>
              </a:ext>
            </a:extLst>
          </p:cNvPr>
          <p:cNvSpPr>
            <a:spLocks noGrp="1"/>
          </p:cNvSpPr>
          <p:nvPr>
            <p:ph type="ftr" sz="quarter" idx="11"/>
          </p:nvPr>
        </p:nvSpPr>
        <p:spPr>
          <a:xfrm>
            <a:off x="4038600" y="6356350"/>
            <a:ext cx="4114800" cy="365125"/>
          </a:xfrm>
        </p:spPr>
        <p:txBody>
          <a:bodyPr/>
          <a:lstStyle/>
          <a:p>
            <a:r>
              <a:t>Dept. of AI &amp; DS, GAT</a:t>
            </a:r>
          </a:p>
        </p:txBody>
      </p:sp>
      <p:sp>
        <p:nvSpPr>
          <p:cNvPr id="5" name="Slide Number Placeholder 4">
            <a:extLst>
              <a:ext uri="{FF2B5EF4-FFF2-40B4-BE49-F238E27FC236}">
                <a16:creationId xmlns:a16="http://schemas.microsoft.com/office/drawing/2014/main" id="{700F1D17-14AB-1625-7C28-1B406E728A4E}"/>
              </a:ext>
            </a:extLst>
          </p:cNvPr>
          <p:cNvSpPr>
            <a:spLocks noGrp="1"/>
          </p:cNvSpPr>
          <p:nvPr>
            <p:ph type="sldNum" sz="quarter" idx="12"/>
          </p:nvPr>
        </p:nvSpPr>
        <p:spPr>
          <a:xfrm>
            <a:off x="8610600" y="6356350"/>
            <a:ext cx="2743200" cy="365125"/>
          </a:xfrm>
        </p:spPr>
        <p:txBody>
          <a:bodyPr/>
          <a:lstStyle/>
          <a:p>
            <a:fld id="{6C62AD7F-F6AD-4FB1-B598-A02559CCFE19}" type="slidenum">
              <a:rPr lang="en-US" smtClean="0"/>
              <a:t>6</a:t>
            </a:fld>
            <a:endParaRPr lang="en-US" dirty="0"/>
          </a:p>
        </p:txBody>
      </p:sp>
      <p:sp>
        <p:nvSpPr>
          <p:cNvPr id="7" name="Rectangle 2">
            <a:extLst>
              <a:ext uri="{FF2B5EF4-FFF2-40B4-BE49-F238E27FC236}">
                <a16:creationId xmlns:a16="http://schemas.microsoft.com/office/drawing/2014/main" id="{22B75CBC-2E6F-DCB5-1CF1-C497F9CD9946}"/>
              </a:ext>
            </a:extLst>
          </p:cNvPr>
          <p:cNvSpPr>
            <a:spLocks noGrp="1" noChangeArrowheads="1"/>
          </p:cNvSpPr>
          <p:nvPr>
            <p:ph idx="1"/>
          </p:nvPr>
        </p:nvSpPr>
        <p:spPr bwMode="auto">
          <a:xfrm>
            <a:off x="673100" y="2534524"/>
            <a:ext cx="10845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India’s economy has experienced remarkable growth over the past few decades, reflecting significant progress across various sectors. However, despite this strong expansion, persistent challenges such as unemployment, income inequality, inflation, and heavy dependence on external trade continue to influence economic stability. Although the government has implemented numerous reforms and policy measures, questions remain about whether this growth is truly sustainable and inclusive for all segments of society. Therefore, analyzing India’s Gross Domestic Product (GDP) becomes essential to understand how key sectors—agriculture, industry, and services—contribute to the nation’s overall performance. This study also seeks to identify the main drivers of economic growth while examining factors that may hinder long-term stability. Ultimately, the aim is to provide a clearer, more comprehensive view of how balanced and resilient India’s economic progress really is.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44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59808-FA04-EE26-5D7C-668B9A79143A}"/>
              </a:ext>
            </a:extLst>
          </p:cNvPr>
          <p:cNvSpPr>
            <a:spLocks noGrp="1"/>
          </p:cNvSpPr>
          <p:nvPr>
            <p:ph type="title"/>
          </p:nvPr>
        </p:nvSpPr>
        <p:spPr>
          <a:xfrm>
            <a:off x="335902" y="365125"/>
            <a:ext cx="11017898" cy="857185"/>
          </a:xfrm>
        </p:spPr>
        <p:txBody>
          <a:bodyPr>
            <a:normAutofit/>
          </a:bodyPr>
          <a:lstStyle/>
          <a:p>
            <a:pPr algn="ctr"/>
            <a:r>
              <a:rPr lang="en-IN" sz="24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PROBLEM OBJECTIVES</a:t>
            </a:r>
          </a:p>
        </p:txBody>
      </p:sp>
      <p:sp>
        <p:nvSpPr>
          <p:cNvPr id="3" name="Content Placeholder 2">
            <a:extLst>
              <a:ext uri="{FF2B5EF4-FFF2-40B4-BE49-F238E27FC236}">
                <a16:creationId xmlns:a16="http://schemas.microsoft.com/office/drawing/2014/main" id="{B30C14AE-1314-3DF8-97DA-C69B6C698744}"/>
              </a:ext>
            </a:extLst>
          </p:cNvPr>
          <p:cNvSpPr>
            <a:spLocks noGrp="1"/>
          </p:cNvSpPr>
          <p:nvPr>
            <p:ph idx="1"/>
          </p:nvPr>
        </p:nvSpPr>
        <p:spPr>
          <a:xfrm>
            <a:off x="335902" y="1474237"/>
            <a:ext cx="11017898" cy="4702726"/>
          </a:xfrm>
        </p:spPr>
        <p:txBody>
          <a:bodyPr>
            <a:normAutofit/>
          </a:bodyPr>
          <a:lstStyle/>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analyze India’s Gross Domestic Product (GDP) and assess the overall pattern of economic growth over the past decades.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evaluate the contribution of major sectors such as agriculture, industry, and services to India’s GDP..</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identify key growth drivers that have influenced India’s economic expansion</a:t>
            </a:r>
            <a:r>
              <a:rPr lang="en-US" sz="2000" dirty="0"/>
              <a:t>.</a:t>
            </a:r>
            <a:r>
              <a:rPr lang="en-US"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examine major challenges like unemployment, income inequality, inflation, and dependence on external trade.</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highlight factors that may gives long-term economic stability and balanced development</a:t>
            </a:r>
            <a:r>
              <a:rPr lang="en-US" sz="2000" dirty="0"/>
              <a:t>.</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8656CBA-0948-896C-F936-BFABF1CF7793}"/>
              </a:ext>
            </a:extLst>
          </p:cNvPr>
          <p:cNvSpPr>
            <a:spLocks noGrp="1"/>
          </p:cNvSpPr>
          <p:nvPr>
            <p:ph type="ftr" sz="quarter" idx="11"/>
          </p:nvPr>
        </p:nvSpPr>
        <p:spPr>
          <a:xfrm>
            <a:off x="4038600" y="6356350"/>
            <a:ext cx="4114800" cy="365125"/>
          </a:xfrm>
        </p:spPr>
        <p:txBody>
          <a:bodyPr/>
          <a:lstStyle/>
          <a:p>
            <a:r>
              <a:t>Dept. of AI &amp; DS, GAT</a:t>
            </a:r>
          </a:p>
        </p:txBody>
      </p:sp>
      <p:sp>
        <p:nvSpPr>
          <p:cNvPr id="5" name="Slide Number Placeholder 4">
            <a:extLst>
              <a:ext uri="{FF2B5EF4-FFF2-40B4-BE49-F238E27FC236}">
                <a16:creationId xmlns:a16="http://schemas.microsoft.com/office/drawing/2014/main" id="{56486304-0CF3-D1A9-C4DD-FB9662F91D91}"/>
              </a:ext>
            </a:extLst>
          </p:cNvPr>
          <p:cNvSpPr>
            <a:spLocks noGrp="1"/>
          </p:cNvSpPr>
          <p:nvPr>
            <p:ph type="sldNum" sz="quarter" idx="12"/>
          </p:nvPr>
        </p:nvSpPr>
        <p:spPr>
          <a:xfrm>
            <a:off x="8610600" y="6356350"/>
            <a:ext cx="2743200" cy="365125"/>
          </a:xfrm>
        </p:spPr>
        <p:txBody>
          <a:bodyPr/>
          <a:lstStyle/>
          <a:p>
            <a:fld id="{6C62AD7F-F6AD-4FB1-B598-A02559CCFE19}" type="slidenum">
              <a:rPr lang="en-US" smtClean="0"/>
              <a:t>7</a:t>
            </a:fld>
            <a:endParaRPr lang="en-US"/>
          </a:p>
        </p:txBody>
      </p:sp>
    </p:spTree>
    <p:extLst>
      <p:ext uri="{BB962C8B-B14F-4D97-AF65-F5344CB8AC3E}">
        <p14:creationId xmlns:p14="http://schemas.microsoft.com/office/powerpoint/2010/main" val="41995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96955"/>
            <a:ext cx="11821885" cy="6432530"/>
          </a:xfrm>
          <a:prstGeom prst="rect">
            <a:avLst/>
          </a:prstGeom>
          <a:noFill/>
        </p:spPr>
        <p:txBody>
          <a:bodyPr wrap="square" rtlCol="0">
            <a:spAutoFit/>
          </a:bodyPr>
          <a:lstStyle/>
          <a:p>
            <a:r>
              <a:rPr lang="en-US" sz="1400" b="1" dirty="0"/>
              <a:t>1. </a:t>
            </a:r>
            <a:r>
              <a:rPr lang="en-US" sz="1400" b="1" dirty="0">
                <a:latin typeface="Times New Roman" panose="02020603050405020304" pitchFamily="18" charset="0"/>
                <a:cs typeface="Times New Roman" panose="02020603050405020304" pitchFamily="18" charset="0"/>
              </a:rPr>
              <a:t>Data Collection:</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Gather data from RBI, Ministry of Finance, NITI Aayog, World Bank, IMF, and Economic Surveys.</a:t>
            </a:r>
          </a:p>
          <a:p>
            <a:r>
              <a:rPr lang="en-US" sz="1400" dirty="0">
                <a:latin typeface="Times New Roman" panose="02020603050405020304" pitchFamily="18" charset="0"/>
                <a:cs typeface="Times New Roman" panose="02020603050405020304" pitchFamily="18" charset="0"/>
              </a:rPr>
              <a:t>     Include GDP growth rates, sectoral data (agriculture, industry, services), inflation, unemployment,</a:t>
            </a:r>
          </a:p>
          <a:p>
            <a:r>
              <a:rPr lang="en-US" sz="1400" dirty="0">
                <a:latin typeface="Times New Roman" panose="02020603050405020304" pitchFamily="18" charset="0"/>
                <a:cs typeface="Times New Roman" panose="02020603050405020304" pitchFamily="18" charset="0"/>
              </a:rPr>
              <a:t>     and trade.</a:t>
            </a:r>
          </a:p>
          <a:p>
            <a:r>
              <a:rPr lang="en-US" sz="1400" b="1" dirty="0">
                <a:latin typeface="Times New Roman" panose="02020603050405020304" pitchFamily="18" charset="0"/>
                <a:cs typeface="Times New Roman" panose="02020603050405020304" pitchFamily="18" charset="0"/>
              </a:rPr>
              <a:t>2. Data Analysis: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Use descriptive statistics to find trends and patterns.</a:t>
            </a:r>
          </a:p>
          <a:p>
            <a:r>
              <a:rPr lang="en-US" sz="1400" dirty="0">
                <a:latin typeface="Times New Roman" panose="02020603050405020304" pitchFamily="18" charset="0"/>
                <a:cs typeface="Times New Roman" panose="02020603050405020304" pitchFamily="18" charset="0"/>
              </a:rPr>
              <a:t>      Compare sectoral contributions and policy effects across time.</a:t>
            </a:r>
          </a:p>
          <a:p>
            <a:r>
              <a:rPr lang="en-US" sz="1400" dirty="0">
                <a:latin typeface="Times New Roman" panose="02020603050405020304" pitchFamily="18" charset="0"/>
                <a:cs typeface="Times New Roman" panose="02020603050405020304" pitchFamily="18" charset="0"/>
              </a:rPr>
              <a:t>3</a:t>
            </a:r>
            <a:r>
              <a:rPr lang="en-US" sz="1400" b="1" dirty="0">
                <a:latin typeface="Times New Roman" panose="02020603050405020304" pitchFamily="18" charset="0"/>
                <a:cs typeface="Times New Roman" panose="02020603050405020304" pitchFamily="18" charset="0"/>
              </a:rPr>
              <a:t>. Model Implementation:</a:t>
            </a:r>
          </a:p>
          <a:p>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1.</a:t>
            </a:r>
            <a:r>
              <a:rPr lang="en-IN" sz="1400" dirty="0">
                <a:latin typeface="Times New Roman" panose="02020603050405020304" pitchFamily="18" charset="0"/>
                <a:cs typeface="Times New Roman" panose="02020603050405020304" pitchFamily="18" charset="0"/>
              </a:rPr>
              <a:t>Linear Regression:</a:t>
            </a:r>
            <a:r>
              <a:rPr lang="en-US" sz="1400" dirty="0">
                <a:latin typeface="Times New Roman" panose="02020603050405020304" pitchFamily="18" charset="0"/>
                <a:cs typeface="Times New Roman" panose="02020603050405020304" pitchFamily="18" charset="0"/>
              </a:rPr>
              <a:t>It assumes a straight-line relationship between the input (Year) and the </a:t>
            </a:r>
          </a:p>
          <a:p>
            <a:r>
              <a:rPr lang="en-US" sz="1400" dirty="0">
                <a:latin typeface="Times New Roman" panose="02020603050405020304" pitchFamily="18" charset="0"/>
                <a:cs typeface="Times New Roman" panose="02020603050405020304" pitchFamily="18" charset="0"/>
              </a:rPr>
              <a:t>        output (GDP) </a:t>
            </a:r>
          </a:p>
          <a:p>
            <a:r>
              <a:rPr lang="en-US" sz="1400" dirty="0">
                <a:latin typeface="Times New Roman" panose="02020603050405020304" pitchFamily="18" charset="0"/>
                <a:cs typeface="Times New Roman" panose="02020603050405020304" pitchFamily="18" charset="0"/>
              </a:rPr>
              <a:t>    2.</a:t>
            </a:r>
            <a:r>
              <a:rPr lang="en-IN" sz="1400" dirty="0">
                <a:latin typeface="Times New Roman" panose="02020603050405020304" pitchFamily="18" charset="0"/>
                <a:cs typeface="Times New Roman" panose="02020603050405020304" pitchFamily="18" charset="0"/>
              </a:rPr>
              <a:t> Random Forest Regressor:</a:t>
            </a:r>
            <a:r>
              <a:rPr lang="en-US" sz="1400" dirty="0">
                <a:latin typeface="Times New Roman" panose="02020603050405020304" pitchFamily="18" charset="0"/>
                <a:cs typeface="Times New Roman" panose="02020603050405020304" pitchFamily="18" charset="0"/>
              </a:rPr>
              <a:t>Uses multiple decision trees and averages their predictions to handle </a:t>
            </a:r>
          </a:p>
          <a:p>
            <a:r>
              <a:rPr lang="en-US" sz="1400" dirty="0">
                <a:latin typeface="Times New Roman" panose="02020603050405020304" pitchFamily="18" charset="0"/>
                <a:cs typeface="Times New Roman" panose="02020603050405020304" pitchFamily="18" charset="0"/>
              </a:rPr>
              <a:t>        complex, non-linear GDP patterns</a:t>
            </a:r>
          </a:p>
          <a:p>
            <a:r>
              <a:rPr lang="en-US" sz="1400" dirty="0">
                <a:latin typeface="Times New Roman" panose="02020603050405020304" pitchFamily="18" charset="0"/>
                <a:cs typeface="Times New Roman" panose="02020603050405020304" pitchFamily="18" charset="0"/>
              </a:rPr>
              <a:t>    3.</a:t>
            </a:r>
            <a:r>
              <a:rPr lang="en-IN" sz="1400" dirty="0">
                <a:latin typeface="Times New Roman" panose="02020603050405020304" pitchFamily="18" charset="0"/>
                <a:cs typeface="Times New Roman" panose="02020603050405020304" pitchFamily="18" charset="0"/>
              </a:rPr>
              <a:t> Gradient Boosting Regressor:</a:t>
            </a:r>
            <a:r>
              <a:rPr lang="en-US" sz="1400" dirty="0">
                <a:latin typeface="Times New Roman" panose="02020603050405020304" pitchFamily="18" charset="0"/>
                <a:cs typeface="Times New Roman" panose="02020603050405020304" pitchFamily="18" charset="0"/>
              </a:rPr>
              <a:t>It adds trees step by step, each improving the model by correcting </a:t>
            </a:r>
          </a:p>
          <a:p>
            <a:r>
              <a:rPr lang="en-US" sz="1400" dirty="0">
                <a:latin typeface="Times New Roman" panose="02020603050405020304" pitchFamily="18" charset="0"/>
                <a:cs typeface="Times New Roman" panose="02020603050405020304" pitchFamily="18" charset="0"/>
              </a:rPr>
              <a:t>         earlier prediction error</a:t>
            </a:r>
          </a:p>
          <a:p>
            <a:r>
              <a:rPr lang="en-US" sz="1400" b="1" dirty="0">
                <a:latin typeface="Times New Roman" panose="02020603050405020304" pitchFamily="18" charset="0"/>
                <a:cs typeface="Times New Roman" panose="02020603050405020304" pitchFamily="18" charset="0"/>
              </a:rPr>
              <a:t>4. Result Analysis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The Linear Regression model captured the overall GDP growth trend but missed nonlinear variations.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Random Forest improved prediction accuracy by handling complex patterns and reducing noise.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Gradient Boosting achieved the best results by sequentially correcting errors, providing the most precise GDP forecasts.</a:t>
            </a:r>
          </a:p>
          <a:p>
            <a:r>
              <a:rPr lang="en-US" sz="1400" b="1" dirty="0">
                <a:latin typeface="Times New Roman" panose="02020603050405020304" pitchFamily="18" charset="0"/>
                <a:cs typeface="Times New Roman" panose="02020603050405020304" pitchFamily="18" charset="0"/>
              </a:rPr>
              <a:t>5. Web Interface (</a:t>
            </a:r>
            <a:r>
              <a:rPr lang="en-US" sz="1400" b="1" dirty="0" err="1">
                <a:latin typeface="Times New Roman" panose="02020603050405020304" pitchFamily="18" charset="0"/>
                <a:cs typeface="Times New Roman" panose="02020603050405020304" pitchFamily="18" charset="0"/>
              </a:rPr>
              <a:t>Webface</a:t>
            </a:r>
            <a:r>
              <a:rPr lang="en-US" sz="1400" b="1" dirty="0">
                <a:latin typeface="Times New Roman" panose="02020603050405020304" pitchFamily="18" charset="0"/>
                <a:cs typeface="Times New Roman" panose="02020603050405020304" pitchFamily="18" charset="0"/>
              </a:rPr>
              <a:t>) Development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Design a user-friendly web interface (using tools like  Flask, or React) to visualize and </a:t>
            </a:r>
          </a:p>
          <a:p>
            <a:r>
              <a:rPr lang="en-US" sz="1400" dirty="0">
                <a:latin typeface="Times New Roman" panose="02020603050405020304" pitchFamily="18" charset="0"/>
                <a:cs typeface="Times New Roman" panose="02020603050405020304" pitchFamily="18" charset="0"/>
              </a:rPr>
              <a:t>     interact with GDP analysis results.</a:t>
            </a:r>
          </a:p>
          <a:p>
            <a:r>
              <a:rPr lang="en-US" sz="1400" dirty="0">
                <a:latin typeface="Times New Roman" panose="02020603050405020304" pitchFamily="18" charset="0"/>
                <a:cs typeface="Times New Roman" panose="02020603050405020304" pitchFamily="18" charset="0"/>
              </a:rPr>
              <a:t>      Include interactive charts, filters, and dashboards for real-time exploration of sectoral and policy</a:t>
            </a:r>
          </a:p>
          <a:p>
            <a:r>
              <a:rPr lang="en-US" sz="1400" dirty="0">
                <a:latin typeface="Times New Roman" panose="02020603050405020304" pitchFamily="18" charset="0"/>
                <a:cs typeface="Times New Roman" panose="02020603050405020304" pitchFamily="18" charset="0"/>
              </a:rPr>
              <a:t>      impacts.</a:t>
            </a:r>
          </a:p>
          <a:p>
            <a:endParaRPr lang="en-US" dirty="0"/>
          </a:p>
          <a:p>
            <a:endParaRPr lang="en-US" dirty="0"/>
          </a:p>
          <a:p>
            <a:endParaRPr lang="en-US" dirty="0"/>
          </a:p>
          <a:p>
            <a:endParaRPr lang="en-US" dirty="0"/>
          </a:p>
          <a:p>
            <a:pPr marL="342900" indent="-342900">
              <a:buAutoNum type="arabicPeriod"/>
            </a:pPr>
            <a:endParaRPr lang="en-IN" dirty="0"/>
          </a:p>
        </p:txBody>
      </p:sp>
      <p:sp>
        <p:nvSpPr>
          <p:cNvPr id="3" name="Footer Placeholder 2">
            <a:extLst>
              <a:ext uri="{FF2B5EF4-FFF2-40B4-BE49-F238E27FC236}">
                <a16:creationId xmlns:a16="http://schemas.microsoft.com/office/drawing/2014/main" id="{103DD7AF-AE27-7E64-DF33-73F4DD271357}"/>
              </a:ext>
            </a:extLst>
          </p:cNvPr>
          <p:cNvSpPr>
            <a:spLocks noGrp="1"/>
          </p:cNvSpPr>
          <p:nvPr>
            <p:ph type="ftr" sz="quarter" idx="11"/>
          </p:nvPr>
        </p:nvSpPr>
        <p:spPr/>
        <p:txBody>
          <a:bodyPr/>
          <a:lstStyle/>
          <a:p>
            <a:r>
              <a:rPr dirty="0"/>
              <a:t>Dept. of AI &amp; DS, GAT</a:t>
            </a:r>
          </a:p>
        </p:txBody>
      </p:sp>
      <p:sp>
        <p:nvSpPr>
          <p:cNvPr id="4" name="Slide Number Placeholder 3">
            <a:extLst>
              <a:ext uri="{FF2B5EF4-FFF2-40B4-BE49-F238E27FC236}">
                <a16:creationId xmlns:a16="http://schemas.microsoft.com/office/drawing/2014/main" id="{2732182F-BA6B-DDCB-F17E-8C1AF52E84E7}"/>
              </a:ext>
            </a:extLst>
          </p:cNvPr>
          <p:cNvSpPr>
            <a:spLocks noGrp="1"/>
          </p:cNvSpPr>
          <p:nvPr>
            <p:ph type="sldNum" sz="quarter" idx="12"/>
          </p:nvPr>
        </p:nvSpPr>
        <p:spPr/>
        <p:txBody>
          <a:bodyPr/>
          <a:lstStyle/>
          <a:p>
            <a:fld id="{6C62AD7F-F6AD-4FB1-B598-A02559CCFE19}" type="slidenum">
              <a:rPr lang="en-US" smtClean="0"/>
              <a:t>8</a:t>
            </a:fld>
            <a:endParaRPr lang="en-US"/>
          </a:p>
        </p:txBody>
      </p:sp>
      <p:sp>
        <p:nvSpPr>
          <p:cNvPr id="5" name="Title 1">
            <a:extLst>
              <a:ext uri="{FF2B5EF4-FFF2-40B4-BE49-F238E27FC236}">
                <a16:creationId xmlns:a16="http://schemas.microsoft.com/office/drawing/2014/main" id="{36B0E8D6-1C90-8715-3948-EF8C5FBF30DC}"/>
              </a:ext>
            </a:extLst>
          </p:cNvPr>
          <p:cNvSpPr txBox="1">
            <a:spLocks/>
          </p:cNvSpPr>
          <p:nvPr/>
        </p:nvSpPr>
        <p:spPr>
          <a:xfrm>
            <a:off x="335902" y="365126"/>
            <a:ext cx="11017898" cy="68923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CF18D09-E06A-95FE-1A84-6291FA03CA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95693" y="1117600"/>
            <a:ext cx="2404100" cy="5238750"/>
          </a:xfrm>
          <a:prstGeom prst="rect">
            <a:avLst/>
          </a:prstGeom>
        </p:spPr>
      </p:pic>
    </p:spTree>
    <p:extLst>
      <p:ext uri="{BB962C8B-B14F-4D97-AF65-F5344CB8AC3E}">
        <p14:creationId xmlns:p14="http://schemas.microsoft.com/office/powerpoint/2010/main" val="2553961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333B2-2206-BCBF-F440-3BD205F7DCA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3ED40D-A3A4-64A5-E676-E75712D4D4CA}"/>
              </a:ext>
            </a:extLst>
          </p:cNvPr>
          <p:cNvSpPr>
            <a:spLocks noGrp="1"/>
          </p:cNvSpPr>
          <p:nvPr>
            <p:ph type="ftr" sz="quarter" idx="11"/>
          </p:nvPr>
        </p:nvSpPr>
        <p:spPr/>
        <p:txBody>
          <a:bodyPr/>
          <a:lstStyle/>
          <a:p>
            <a:r>
              <a:t>Dept. of AI &amp; DS, GAT</a:t>
            </a:r>
          </a:p>
        </p:txBody>
      </p:sp>
      <p:sp>
        <p:nvSpPr>
          <p:cNvPr id="4" name="Slide Number Placeholder 3">
            <a:extLst>
              <a:ext uri="{FF2B5EF4-FFF2-40B4-BE49-F238E27FC236}">
                <a16:creationId xmlns:a16="http://schemas.microsoft.com/office/drawing/2014/main" id="{A4D897E8-1DB0-D036-6B54-0BE26302A1F0}"/>
              </a:ext>
            </a:extLst>
          </p:cNvPr>
          <p:cNvSpPr>
            <a:spLocks noGrp="1"/>
          </p:cNvSpPr>
          <p:nvPr>
            <p:ph type="sldNum" sz="quarter" idx="12"/>
          </p:nvPr>
        </p:nvSpPr>
        <p:spPr/>
        <p:txBody>
          <a:bodyPr/>
          <a:lstStyle/>
          <a:p>
            <a:fld id="{6C62AD7F-F6AD-4FB1-B598-A02559CCFE19}" type="slidenum">
              <a:rPr lang="en-US" smtClean="0"/>
              <a:t>9</a:t>
            </a:fld>
            <a:endParaRPr lang="en-US"/>
          </a:p>
        </p:txBody>
      </p:sp>
      <p:sp>
        <p:nvSpPr>
          <p:cNvPr id="5" name="Title 1">
            <a:extLst>
              <a:ext uri="{FF2B5EF4-FFF2-40B4-BE49-F238E27FC236}">
                <a16:creationId xmlns:a16="http://schemas.microsoft.com/office/drawing/2014/main" id="{02E903C4-232D-0F8A-CD34-3BCB20C26117}"/>
              </a:ext>
            </a:extLst>
          </p:cNvPr>
          <p:cNvSpPr txBox="1">
            <a:spLocks/>
          </p:cNvSpPr>
          <p:nvPr/>
        </p:nvSpPr>
        <p:spPr>
          <a:xfrm>
            <a:off x="335902" y="290481"/>
            <a:ext cx="11017898" cy="68923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RESULTS</a:t>
            </a:r>
            <a:endParaRPr lang="en-IN" sz="2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A63FD06-C5D4-15E3-FF82-FC07D8E74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4737" y="979715"/>
            <a:ext cx="4587631" cy="4544008"/>
          </a:xfrm>
          <a:prstGeom prst="rect">
            <a:avLst/>
          </a:prstGeom>
        </p:spPr>
      </p:pic>
      <p:pic>
        <p:nvPicPr>
          <p:cNvPr id="11" name="Picture 10">
            <a:extLst>
              <a:ext uri="{FF2B5EF4-FFF2-40B4-BE49-F238E27FC236}">
                <a16:creationId xmlns:a16="http://schemas.microsoft.com/office/drawing/2014/main" id="{087FC842-5110-7340-31C0-010BB90AECE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83325" y="1082531"/>
            <a:ext cx="4688793" cy="4407677"/>
          </a:xfrm>
          <a:prstGeom prst="rect">
            <a:avLst/>
          </a:prstGeom>
        </p:spPr>
      </p:pic>
    </p:spTree>
    <p:extLst>
      <p:ext uri="{BB962C8B-B14F-4D97-AF65-F5344CB8AC3E}">
        <p14:creationId xmlns:p14="http://schemas.microsoft.com/office/powerpoint/2010/main" val="262316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36E4A0A-EF6F-AC8F-6BAD-AAF4F994E5E3}"/>
              </a:ext>
            </a:extLst>
          </p:cNvPr>
          <p:cNvSpPr>
            <a:spLocks noGrp="1"/>
          </p:cNvSpPr>
          <p:nvPr>
            <p:ph type="ftr" sz="quarter" idx="11"/>
          </p:nvPr>
        </p:nvSpPr>
        <p:spPr/>
        <p:txBody>
          <a:bodyPr/>
          <a:lstStyle/>
          <a:p>
            <a:r>
              <a:rPr lang="en-US"/>
              <a:t>Dept. of AI &amp; DS, GAT</a:t>
            </a:r>
          </a:p>
        </p:txBody>
      </p:sp>
      <p:sp>
        <p:nvSpPr>
          <p:cNvPr id="3" name="Slide Number Placeholder 2">
            <a:extLst>
              <a:ext uri="{FF2B5EF4-FFF2-40B4-BE49-F238E27FC236}">
                <a16:creationId xmlns:a16="http://schemas.microsoft.com/office/drawing/2014/main" id="{15F63E59-AAE7-4E5D-4B29-6AB068A62866}"/>
              </a:ext>
            </a:extLst>
          </p:cNvPr>
          <p:cNvSpPr>
            <a:spLocks noGrp="1"/>
          </p:cNvSpPr>
          <p:nvPr>
            <p:ph type="sldNum" sz="quarter" idx="12"/>
          </p:nvPr>
        </p:nvSpPr>
        <p:spPr/>
        <p:txBody>
          <a:bodyPr/>
          <a:lstStyle/>
          <a:p>
            <a:fld id="{6C62AD7F-F6AD-4FB1-B598-A02559CCFE19}" type="slidenum">
              <a:rPr lang="en-US" smtClean="0"/>
              <a:t>10</a:t>
            </a:fld>
            <a:endParaRPr lang="en-US"/>
          </a:p>
        </p:txBody>
      </p:sp>
      <p:pic>
        <p:nvPicPr>
          <p:cNvPr id="5" name="Picture 4">
            <a:extLst>
              <a:ext uri="{FF2B5EF4-FFF2-40B4-BE49-F238E27FC236}">
                <a16:creationId xmlns:a16="http://schemas.microsoft.com/office/drawing/2014/main" id="{C6CC236A-DC46-633C-7073-3053158F67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89355" y="961291"/>
            <a:ext cx="4807890" cy="4665785"/>
          </a:xfrm>
          <a:prstGeom prst="rect">
            <a:avLst/>
          </a:prstGeom>
        </p:spPr>
      </p:pic>
      <p:pic>
        <p:nvPicPr>
          <p:cNvPr id="6" name="Picture 5">
            <a:extLst>
              <a:ext uri="{FF2B5EF4-FFF2-40B4-BE49-F238E27FC236}">
                <a16:creationId xmlns:a16="http://schemas.microsoft.com/office/drawing/2014/main" id="{C4F36CB3-DAE1-95BE-964E-6416F5D4B1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3815" y="672122"/>
            <a:ext cx="5173785" cy="4954954"/>
          </a:xfrm>
          <a:prstGeom prst="rect">
            <a:avLst/>
          </a:prstGeom>
        </p:spPr>
      </p:pic>
    </p:spTree>
    <p:extLst>
      <p:ext uri="{BB962C8B-B14F-4D97-AF65-F5344CB8AC3E}">
        <p14:creationId xmlns:p14="http://schemas.microsoft.com/office/powerpoint/2010/main" val="1569896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2426-C475-9D39-5F0E-1C0BC19E0CB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54C7FB-2736-DFCC-0306-39D55D8170FC}"/>
              </a:ext>
            </a:extLst>
          </p:cNvPr>
          <p:cNvSpPr>
            <a:spLocks noGrp="1"/>
          </p:cNvSpPr>
          <p:nvPr>
            <p:ph type="ftr" sz="quarter" idx="11"/>
          </p:nvPr>
        </p:nvSpPr>
        <p:spPr/>
        <p:txBody>
          <a:bodyPr/>
          <a:lstStyle/>
          <a:p>
            <a:r>
              <a:t>Dept. of AI &amp; DS, GAT</a:t>
            </a:r>
          </a:p>
        </p:txBody>
      </p:sp>
      <p:sp>
        <p:nvSpPr>
          <p:cNvPr id="4" name="Slide Number Placeholder 3">
            <a:extLst>
              <a:ext uri="{FF2B5EF4-FFF2-40B4-BE49-F238E27FC236}">
                <a16:creationId xmlns:a16="http://schemas.microsoft.com/office/drawing/2014/main" id="{AD2A5994-7787-208F-BC0D-B57C0E1A2EA4}"/>
              </a:ext>
            </a:extLst>
          </p:cNvPr>
          <p:cNvSpPr>
            <a:spLocks noGrp="1"/>
          </p:cNvSpPr>
          <p:nvPr>
            <p:ph type="sldNum" sz="quarter" idx="12"/>
          </p:nvPr>
        </p:nvSpPr>
        <p:spPr/>
        <p:txBody>
          <a:bodyPr/>
          <a:lstStyle/>
          <a:p>
            <a:fld id="{6C62AD7F-F6AD-4FB1-B598-A02559CCFE19}" type="slidenum">
              <a:rPr lang="en-US" smtClean="0"/>
              <a:t>11</a:t>
            </a:fld>
            <a:endParaRPr lang="en-US"/>
          </a:p>
        </p:txBody>
      </p:sp>
      <p:sp>
        <p:nvSpPr>
          <p:cNvPr id="5" name="Title 1">
            <a:extLst>
              <a:ext uri="{FF2B5EF4-FFF2-40B4-BE49-F238E27FC236}">
                <a16:creationId xmlns:a16="http://schemas.microsoft.com/office/drawing/2014/main" id="{29DEA3DE-CF0A-FF19-F180-FE0EE53DCBB3}"/>
              </a:ext>
            </a:extLst>
          </p:cNvPr>
          <p:cNvSpPr txBox="1">
            <a:spLocks/>
          </p:cNvSpPr>
          <p:nvPr/>
        </p:nvSpPr>
        <p:spPr>
          <a:xfrm>
            <a:off x="335902" y="290481"/>
            <a:ext cx="11017898" cy="68923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E58B913-1637-B0A9-140A-FBBD72AF6210}"/>
              </a:ext>
            </a:extLst>
          </p:cNvPr>
          <p:cNvSpPr txBox="1"/>
          <p:nvPr/>
        </p:nvSpPr>
        <p:spPr>
          <a:xfrm>
            <a:off x="432318" y="1727394"/>
            <a:ext cx="11327363" cy="406265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1.India’s economy has shown </a:t>
            </a:r>
            <a:r>
              <a:rPr lang="en-US" sz="2000" b="1" dirty="0">
                <a:latin typeface="Times New Roman" panose="02020603050405020304" pitchFamily="18" charset="0"/>
                <a:cs typeface="Times New Roman" panose="02020603050405020304" pitchFamily="18" charset="0"/>
              </a:rPr>
              <a:t>strong growth</a:t>
            </a:r>
            <a:r>
              <a:rPr lang="en-US" sz="2000" dirty="0">
                <a:latin typeface="Times New Roman" panose="02020603050405020304" pitchFamily="18" charset="0"/>
                <a:cs typeface="Times New Roman" panose="02020603050405020304" pitchFamily="18" charset="0"/>
              </a:rPr>
              <a:t> over the past decades, yet </a:t>
            </a:r>
            <a:r>
              <a:rPr lang="en-US" sz="2000" b="1" dirty="0">
                <a:latin typeface="Times New Roman" panose="02020603050405020304" pitchFamily="18" charset="0"/>
                <a:cs typeface="Times New Roman" panose="02020603050405020304" pitchFamily="18" charset="0"/>
              </a:rPr>
              <a:t>structural challenges</a:t>
            </a:r>
            <a:r>
              <a:rPr lang="en-US" sz="2000" dirty="0">
                <a:latin typeface="Times New Roman" panose="02020603050405020304" pitchFamily="18" charset="0"/>
                <a:cs typeface="Times New Roman" panose="02020603050405020304" pitchFamily="18" charset="0"/>
              </a:rPr>
              <a:t> such as unemployment, inequality, and inflation continue to impact long-term progress.</a:t>
            </a:r>
          </a:p>
          <a:p>
            <a:r>
              <a:rPr lang="en-US" sz="2000" dirty="0">
                <a:latin typeface="Times New Roman" panose="02020603050405020304" pitchFamily="18" charset="0"/>
                <a:cs typeface="Times New Roman" panose="02020603050405020304" pitchFamily="18" charset="0"/>
              </a:rPr>
              <a:t>2.The </a:t>
            </a:r>
            <a:r>
              <a:rPr lang="en-US" sz="2000" b="1" dirty="0">
                <a:latin typeface="Times New Roman" panose="02020603050405020304" pitchFamily="18" charset="0"/>
                <a:cs typeface="Times New Roman" panose="02020603050405020304" pitchFamily="18" charset="0"/>
              </a:rPr>
              <a:t>sectoral analysis</a:t>
            </a:r>
            <a:r>
              <a:rPr lang="en-US" sz="2000" dirty="0">
                <a:latin typeface="Times New Roman" panose="02020603050405020304" pitchFamily="18" charset="0"/>
                <a:cs typeface="Times New Roman" panose="02020603050405020304" pitchFamily="18" charset="0"/>
              </a:rPr>
              <a:t> highlights how agriculture, industry, and services each play a vital role in shaping overall GDP trends.</a:t>
            </a:r>
          </a:p>
          <a:p>
            <a:r>
              <a:rPr lang="en-US" sz="2000" dirty="0">
                <a:latin typeface="Times New Roman" panose="02020603050405020304" pitchFamily="18" charset="0"/>
                <a:cs typeface="Times New Roman" panose="02020603050405020304" pitchFamily="18" charset="0"/>
              </a:rPr>
              <a:t>3.Combining </a:t>
            </a:r>
            <a:r>
              <a:rPr lang="en-US" sz="2000" b="1" dirty="0">
                <a:latin typeface="Times New Roman" panose="02020603050405020304" pitchFamily="18" charset="0"/>
                <a:cs typeface="Times New Roman" panose="02020603050405020304" pitchFamily="18" charset="0"/>
              </a:rPr>
              <a:t>quantitative data</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qualitative insights</a:t>
            </a:r>
            <a:r>
              <a:rPr lang="en-US" sz="2000" dirty="0">
                <a:latin typeface="Times New Roman" panose="02020603050405020304" pitchFamily="18" charset="0"/>
                <a:cs typeface="Times New Roman" panose="02020603050405020304" pitchFamily="18" charset="0"/>
              </a:rPr>
              <a:t> provides a clearer understanding of the country’s economic strengths and weaknesses.</a:t>
            </a:r>
          </a:p>
          <a:p>
            <a:r>
              <a:rPr lang="en-US" sz="2000" dirty="0">
                <a:latin typeface="Times New Roman" panose="02020603050405020304" pitchFamily="18" charset="0"/>
                <a:cs typeface="Times New Roman" panose="02020603050405020304" pitchFamily="18" charset="0"/>
              </a:rPr>
              <a:t>4.The findings underline the importance of </a:t>
            </a:r>
            <a:r>
              <a:rPr lang="en-US" sz="2000" b="1" dirty="0">
                <a:latin typeface="Times New Roman" panose="02020603050405020304" pitchFamily="18" charset="0"/>
                <a:cs typeface="Times New Roman" panose="02020603050405020304" pitchFamily="18" charset="0"/>
              </a:rPr>
              <a:t>sustainable, inclusive, and innovation-driven growth policies</a:t>
            </a:r>
            <a:r>
              <a:rPr lang="en-US" sz="2000" dirty="0">
                <a:latin typeface="Times New Roman" panose="02020603050405020304" pitchFamily="18" charset="0"/>
                <a:cs typeface="Times New Roman" panose="02020603050405020304" pitchFamily="18" charset="0"/>
              </a:rPr>
              <a:t> to ensure balanced development.</a:t>
            </a:r>
          </a:p>
          <a:p>
            <a:r>
              <a:rPr lang="en-US" sz="2000" dirty="0">
                <a:latin typeface="Times New Roman" panose="02020603050405020304" pitchFamily="18" charset="0"/>
                <a:cs typeface="Times New Roman" panose="02020603050405020304" pitchFamily="18" charset="0"/>
              </a:rPr>
              <a:t>5.The developed </a:t>
            </a:r>
            <a:r>
              <a:rPr lang="en-US" sz="2000" b="1" dirty="0">
                <a:latin typeface="Times New Roman" panose="02020603050405020304" pitchFamily="18" charset="0"/>
                <a:cs typeface="Times New Roman" panose="02020603050405020304" pitchFamily="18" charset="0"/>
              </a:rPr>
              <a:t>web-based interface (</a:t>
            </a:r>
            <a:r>
              <a:rPr lang="en-US" sz="2000" b="1" dirty="0" err="1">
                <a:latin typeface="Times New Roman" panose="02020603050405020304" pitchFamily="18" charset="0"/>
                <a:cs typeface="Times New Roman" panose="02020603050405020304" pitchFamily="18" charset="0"/>
              </a:rPr>
              <a:t>Webface</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makes the results </a:t>
            </a:r>
            <a:r>
              <a:rPr lang="en-US" sz="2000" b="1" dirty="0">
                <a:latin typeface="Times New Roman" panose="02020603050405020304" pitchFamily="18" charset="0"/>
                <a:cs typeface="Times New Roman" panose="02020603050405020304" pitchFamily="18" charset="0"/>
              </a:rPr>
              <a:t>interactive, transparent, and accessible</a:t>
            </a:r>
            <a:r>
              <a:rPr lang="en-US" sz="2000" dirty="0">
                <a:latin typeface="Times New Roman" panose="02020603050405020304" pitchFamily="18" charset="0"/>
                <a:cs typeface="Times New Roman" panose="02020603050405020304" pitchFamily="18" charset="0"/>
              </a:rPr>
              <a:t>, supporting better decision-making for policymakers and researchers.</a:t>
            </a:r>
          </a:p>
          <a:p>
            <a:r>
              <a:rPr lang="en-US" sz="2000" dirty="0">
                <a:latin typeface="Times New Roman" panose="02020603050405020304" pitchFamily="18" charset="0"/>
                <a:cs typeface="Times New Roman" panose="02020603050405020304" pitchFamily="18" charset="0"/>
              </a:rPr>
              <a:t>6.Overall, this study contributes toward building a </a:t>
            </a:r>
            <a:r>
              <a:rPr lang="en-US" sz="2000" b="1" dirty="0">
                <a:latin typeface="Times New Roman" panose="02020603050405020304" pitchFamily="18" charset="0"/>
                <a:cs typeface="Times New Roman" panose="02020603050405020304" pitchFamily="18" charset="0"/>
              </a:rPr>
              <a:t>resilient and future-ready Indian economy</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6116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1443E-7732-3C8A-C7BE-89F91B179D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D1B922-F041-9FC4-5613-7E30C3D3B728}"/>
              </a:ext>
            </a:extLst>
          </p:cNvPr>
          <p:cNvSpPr txBox="1"/>
          <p:nvPr/>
        </p:nvSpPr>
        <p:spPr>
          <a:xfrm>
            <a:off x="429208" y="1296955"/>
            <a:ext cx="11392677" cy="800219"/>
          </a:xfrm>
          <a:prstGeom prst="rect">
            <a:avLst/>
          </a:prstGeom>
          <a:noFill/>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pPr algn="just"/>
            <a:endParaRPr lang="en-US" sz="2200"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D8CA1AF-83A5-732D-3AD8-522523D3853F}"/>
              </a:ext>
            </a:extLst>
          </p:cNvPr>
          <p:cNvSpPr>
            <a:spLocks noGrp="1"/>
          </p:cNvSpPr>
          <p:nvPr>
            <p:ph type="ftr" sz="quarter" idx="11"/>
          </p:nvPr>
        </p:nvSpPr>
        <p:spPr/>
        <p:txBody>
          <a:bodyPr/>
          <a:lstStyle/>
          <a:p>
            <a:r>
              <a:t>Dept. of AI &amp; DS, GAT</a:t>
            </a:r>
          </a:p>
        </p:txBody>
      </p:sp>
      <p:sp>
        <p:nvSpPr>
          <p:cNvPr id="4" name="Slide Number Placeholder 3">
            <a:extLst>
              <a:ext uri="{FF2B5EF4-FFF2-40B4-BE49-F238E27FC236}">
                <a16:creationId xmlns:a16="http://schemas.microsoft.com/office/drawing/2014/main" id="{E0D05357-3577-61E9-881F-38AE0E77F788}"/>
              </a:ext>
            </a:extLst>
          </p:cNvPr>
          <p:cNvSpPr>
            <a:spLocks noGrp="1"/>
          </p:cNvSpPr>
          <p:nvPr>
            <p:ph type="sldNum" sz="quarter" idx="12"/>
          </p:nvPr>
        </p:nvSpPr>
        <p:spPr/>
        <p:txBody>
          <a:bodyPr/>
          <a:lstStyle/>
          <a:p>
            <a:fld id="{6C62AD7F-F6AD-4FB1-B598-A02559CCFE19}" type="slidenum">
              <a:rPr lang="en-US" smtClean="0"/>
              <a:t>12</a:t>
            </a:fld>
            <a:endParaRPr lang="en-US"/>
          </a:p>
        </p:txBody>
      </p:sp>
      <p:sp>
        <p:nvSpPr>
          <p:cNvPr id="5" name="Title 1">
            <a:extLst>
              <a:ext uri="{FF2B5EF4-FFF2-40B4-BE49-F238E27FC236}">
                <a16:creationId xmlns:a16="http://schemas.microsoft.com/office/drawing/2014/main" id="{17F8E0DD-51E6-603B-4F1E-D2BC62778416}"/>
              </a:ext>
            </a:extLst>
          </p:cNvPr>
          <p:cNvSpPr txBox="1">
            <a:spLocks/>
          </p:cNvSpPr>
          <p:nvPr/>
        </p:nvSpPr>
        <p:spPr>
          <a:xfrm>
            <a:off x="335902" y="290481"/>
            <a:ext cx="11017898" cy="68923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757857FE-243B-F60F-3B1C-735F5A936648}"/>
              </a:ext>
            </a:extLst>
          </p:cNvPr>
          <p:cNvSpPr>
            <a:spLocks noChangeArrowheads="1"/>
          </p:cNvSpPr>
          <p:nvPr/>
        </p:nvSpPr>
        <p:spPr bwMode="auto">
          <a:xfrm>
            <a:off x="755779" y="751345"/>
            <a:ext cx="1017814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ARIMA / SARIMA</a:t>
            </a:r>
            <a:r>
              <a:rPr lang="en-IN" dirty="0">
                <a:latin typeface="Times New Roman" panose="02020603050405020304" pitchFamily="18" charset="0"/>
                <a:cs typeface="Times New Roman" panose="02020603050405020304" pitchFamily="18" charset="0"/>
              </a:rPr>
              <a:t>: B. Muma &amp; A. Karoki,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GDP Using Autoregressive Integrated Moving Average (ARIMA) Model: A Systematic Review”, Open Access Library Journal, Vol 9 No 4 (2022). </a:t>
            </a:r>
          </a:p>
          <a:p>
            <a:pPr lvl="0" algn="just" eaLnBrk="0" fontAlgn="base" hangingPunct="0">
              <a:spcBef>
                <a:spcPct val="0"/>
              </a:spcBef>
              <a:spcAft>
                <a:spcPct val="0"/>
              </a:spcAft>
            </a:pPr>
            <a:endParaRPr lang="en-IN"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Machine Learning Regression (Random Forest, XG Boost</a:t>
            </a:r>
            <a:r>
              <a:rPr lang="en-IN" dirty="0">
                <a:latin typeface="Times New Roman" panose="02020603050405020304" pitchFamily="18" charset="0"/>
                <a:cs typeface="Times New Roman" panose="02020603050405020304" pitchFamily="18" charset="0"/>
              </a:rPr>
              <a:t>): M. D. Adewale et al., “Predicting Gross Domestic Product using the ensemble: Random Forest, XG Boost…”, ScienceDirect (2024).</a:t>
            </a: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[3] </a:t>
            </a:r>
            <a:r>
              <a:rPr lang="en-IN" b="1" dirty="0">
                <a:latin typeface="Times New Roman" panose="02020603050405020304" pitchFamily="18" charset="0"/>
                <a:cs typeface="Times New Roman" panose="02020603050405020304" pitchFamily="18" charset="0"/>
              </a:rPr>
              <a:t>LSTM / RNN / Neural Networks</a:t>
            </a:r>
            <a:r>
              <a:rPr lang="en-IN" dirty="0">
                <a:latin typeface="Times New Roman" panose="02020603050405020304" pitchFamily="18" charset="0"/>
                <a:cs typeface="Times New Roman" panose="02020603050405020304" pitchFamily="18" charset="0"/>
              </a:rPr>
              <a:t>: M. Y. Shams, Z. Tarek, M. M. Eid et al., “Predicting Gross Domestic Product (GDP) using a PC-LSTM-RNN model in urban profiling areas”, Springer, 2024.</a:t>
            </a:r>
          </a:p>
          <a:p>
            <a:pPr lvl="0" algn="just" eaLnBrk="0" fontAlgn="base" hangingPunct="0">
              <a:spcBef>
                <a:spcPct val="0"/>
              </a:spcBef>
              <a:spcAft>
                <a:spcPct val="0"/>
              </a:spcAft>
            </a:pPr>
            <a:endParaRPr lang="en-IN"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 [4</a:t>
            </a:r>
            <a:r>
              <a:rPr lang="en-IN" b="1" dirty="0">
                <a:latin typeface="Times New Roman" panose="02020603050405020304" pitchFamily="18" charset="0"/>
                <a:cs typeface="Times New Roman" panose="02020603050405020304" pitchFamily="18" charset="0"/>
              </a:rPr>
              <a:t>] Multiple Linear Regression / Machine Learning for GDP</a:t>
            </a:r>
            <a:r>
              <a:rPr lang="en-IN" dirty="0">
                <a:latin typeface="Times New Roman" panose="02020603050405020304" pitchFamily="18" charset="0"/>
                <a:cs typeface="Times New Roman" panose="02020603050405020304" pitchFamily="18" charset="0"/>
              </a:rPr>
              <a:t>: J. Yoon, “Forecasting of Real GDP Growth Using Machine Learning Models: Gradient Boosting and Random Forest Approach”, Compute Econ, 57, 247-265 (2021)</a:t>
            </a: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[5] </a:t>
            </a:r>
            <a:r>
              <a:rPr lang="en-IN" b="1" dirty="0">
                <a:latin typeface="Times New Roman" panose="02020603050405020304" pitchFamily="18" charset="0"/>
                <a:cs typeface="Times New Roman" panose="02020603050405020304" pitchFamily="18" charset="0"/>
              </a:rPr>
              <a:t>Hybrid ARIMA–ANN Model:</a:t>
            </a:r>
            <a:r>
              <a:rPr lang="en-IN" dirty="0">
                <a:latin typeface="Times New Roman" panose="02020603050405020304" pitchFamily="18" charset="0"/>
                <a:cs typeface="Times New Roman" panose="02020603050405020304" pitchFamily="18" charset="0"/>
              </a:rPr>
              <a:t> Published as “A Hybrid Forecasting Structure Based on ARIMA and Artificial Neural Network” in Applied Sciences 14(16):7122 (2024).</a:t>
            </a:r>
          </a:p>
          <a:p>
            <a:pPr lvl="0" algn="just" eaLnBrk="0" fontAlgn="base" hangingPunct="0">
              <a:spcBef>
                <a:spcPct val="0"/>
              </a:spcBef>
              <a:spcAft>
                <a:spcPct val="0"/>
              </a:spcAft>
            </a:pPr>
            <a:endParaRPr lang="en-IN"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 [6] </a:t>
            </a:r>
            <a:r>
              <a:rPr lang="en-IN" b="1" dirty="0">
                <a:latin typeface="Times New Roman" panose="02020603050405020304" pitchFamily="18" charset="0"/>
                <a:cs typeface="Times New Roman" panose="02020603050405020304" pitchFamily="18" charset="0"/>
              </a:rPr>
              <a:t>Support Vector Regression (SVR) for GDP / macro-forecasting</a:t>
            </a:r>
            <a:r>
              <a:rPr lang="en-IN" dirty="0">
                <a:latin typeface="Times New Roman" panose="02020603050405020304" pitchFamily="18" charset="0"/>
                <a:cs typeface="Times New Roman" panose="02020603050405020304" pitchFamily="18" charset="0"/>
              </a:rPr>
              <a:t>: Published as “Unemployment rate and GDP prediction using support vector regression” by (names omitted in summary) (ACM, 2019). </a:t>
            </a:r>
          </a:p>
          <a:p>
            <a:pPr lvl="0" algn="just" eaLnBrk="0" fontAlgn="base" hangingPunct="0">
              <a:spcBef>
                <a:spcPct val="0"/>
              </a:spcBef>
              <a:spcAft>
                <a:spcPct val="0"/>
              </a:spcAft>
            </a:pPr>
            <a:r>
              <a:rPr lang="en-IN" dirty="0">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712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832</TotalTime>
  <Words>1525</Words>
  <Application>Microsoft Office PowerPoint</Application>
  <PresentationFormat>Widescreen</PresentationFormat>
  <Paragraphs>169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Calibri Light</vt:lpstr>
      <vt:lpstr>Times New Roman</vt:lpstr>
      <vt:lpstr>Wingdings</vt:lpstr>
      <vt:lpstr>Office Theme</vt:lpstr>
      <vt:lpstr>                GLOBAL ACADEMY OF TECHNOLOGY Affiliated to VTU, Recognized by GOK, Approved by AICTE Aditya Layout, Ideal Homes Bengaluru - 560 098 www.gat.ac.in      DEPARTMENT OF ARTIFICIAL INTELLIGENCE AND DATA SCIENCE      </vt:lpstr>
      <vt:lpstr>CONTENTS</vt:lpstr>
      <vt:lpstr> INTRODUCTION </vt:lpstr>
      <vt:lpstr>LITERATURE SURVEY</vt:lpstr>
      <vt:lpstr>PowerPoint Presentation</vt:lpstr>
      <vt:lpstr>PROBLEM STATEMENT </vt:lpstr>
      <vt:lpstr> PROBLEM OBJECTIVES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ACADEMY OF TECHNOLOGY Approved by AICTE, New Delhi, recognized by Govt. of Karnataka Autonomous Institute under VTU, Belagavi Rajarajeshwari Nagar Bengaluru -98 DEPARTMENT OF ARTIFICIAL INTELLIGENCE AND DATA SCIENCE</dc:title>
  <dc:creator>ADMIN</dc:creator>
  <cp:lastModifiedBy>Ravi Chavadal</cp:lastModifiedBy>
  <cp:revision>23</cp:revision>
  <dcterms:created xsi:type="dcterms:W3CDTF">2024-12-06T15:32:03Z</dcterms:created>
  <dcterms:modified xsi:type="dcterms:W3CDTF">2025-11-12T06:25:11Z</dcterms:modified>
</cp:coreProperties>
</file>